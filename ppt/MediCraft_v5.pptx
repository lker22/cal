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35824" y="822959"/>
            <a:ext cx="1334898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603503"/>
            <a:ext cx="1678515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35824" y="822959"/>
            <a:ext cx="1181806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52560" y="603503"/>
            <a:ext cx="1321300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8480" y="932688"/>
            <a:ext cx="798831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74736" y="1920239"/>
            <a:ext cx="1786242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30384" y="1591056"/>
            <a:ext cx="1597663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74736" y="1920239"/>
            <a:ext cx="1339401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30384" y="1591056"/>
            <a:ext cx="1405203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66576" y="1152144"/>
            <a:ext cx="2107805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3017520"/>
            <a:ext cx="1528334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33104" y="2468879"/>
            <a:ext cx="1357260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49840" y="2798063"/>
            <a:ext cx="1734950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3017520"/>
            <a:ext cx="943914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2468879"/>
            <a:ext cx="1582520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49840" y="2798063"/>
            <a:ext cx="943915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795759" y="2249424"/>
            <a:ext cx="2559273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3785615"/>
            <a:ext cx="1660486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3785615"/>
            <a:ext cx="3103576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3566159"/>
            <a:ext cx="1443245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35824" y="822959"/>
            <a:ext cx="131673" cy="131673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2560" y="603503"/>
            <a:ext cx="87782" cy="8778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98480" y="932688"/>
            <a:ext cx="109728" cy="109728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74736" y="1920239"/>
            <a:ext cx="65836" cy="658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30384" y="1591056"/>
            <a:ext cx="98755" cy="98755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66576" y="1152144"/>
            <a:ext cx="76809" cy="76809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06640" y="3017520"/>
            <a:ext cx="87782" cy="8778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33104" y="2468879"/>
            <a:ext cx="120700" cy="1207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49840" y="2798063"/>
            <a:ext cx="65836" cy="658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95759" y="2249424"/>
            <a:ext cx="109728" cy="10972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55279" y="3785615"/>
            <a:ext cx="76809" cy="76809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0" y="3566159"/>
            <a:ext cx="98755" cy="98755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27663" y="3346703"/>
            <a:ext cx="87782" cy="8778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87184" y="1371600"/>
            <a:ext cx="54864" cy="5486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247120" y="603503"/>
            <a:ext cx="65836" cy="6583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-18288" y="4389120"/>
            <a:ext cx="667449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279392"/>
            <a:ext cx="839257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-18288" y="4389120"/>
            <a:ext cx="590902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279392"/>
            <a:ext cx="660650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63040" y="4443984"/>
            <a:ext cx="399415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167" y="4937760"/>
            <a:ext cx="893122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78992" y="4773168"/>
            <a:ext cx="798831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7" y="4937760"/>
            <a:ext cx="669699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4773168"/>
            <a:ext cx="702602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47088" y="4553712"/>
            <a:ext cx="1053903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-182880" y="5486400"/>
            <a:ext cx="764167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0352" y="5212080"/>
            <a:ext cx="678629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88719" y="5376672"/>
            <a:ext cx="867476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-182880" y="5486400"/>
            <a:ext cx="471957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0352" y="5212080"/>
            <a:ext cx="791260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88719" y="5376672"/>
            <a:ext cx="471957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011679" y="5102352"/>
            <a:ext cx="1279636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39" y="5870448"/>
            <a:ext cx="830243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39" y="5870448"/>
            <a:ext cx="1551788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4400" y="5760720"/>
            <a:ext cx="721622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8288" y="4389120"/>
            <a:ext cx="65836" cy="6583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0080" y="4279392"/>
            <a:ext cx="43891" cy="4389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463040" y="4443984"/>
            <a:ext cx="54864" cy="54864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01167" y="4937760"/>
            <a:ext cx="32918" cy="3291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8992" y="4773168"/>
            <a:ext cx="49377" cy="49377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847088" y="4553712"/>
            <a:ext cx="38404" cy="38404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-182880" y="5486400"/>
            <a:ext cx="43891" cy="4389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30352" y="5212080"/>
            <a:ext cx="60350" cy="6035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88719" y="5376672"/>
            <a:ext cx="32918" cy="3291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011679" y="5102352"/>
            <a:ext cx="54864" cy="5486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1439" y="5870448"/>
            <a:ext cx="38404" cy="38404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4400" y="5760720"/>
            <a:ext cx="49377" cy="49377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627631" y="5650992"/>
            <a:ext cx="43891" cy="43891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-292608" y="46634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737360" y="4279392"/>
            <a:ext cx="32918" cy="3291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315200" y="9144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gradFill rotWithShape="1">
            <a:gsLst>
              <a:gs pos="0">
                <a:srgbClr val="CCFBF1">
                  <a:lumMod val="20000"/>
                  <a:lumOff val="80000"/>
                </a:srgbClr>
              </a:gs>
              <a:gs pos="100000">
                <a:srgbClr val="EDE9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9728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YaHei"/>
              </a:defRPr>
            </a:pPr>
            <a:r>
              <a:t>MediCraft</a:t>
            </a:r>
          </a:p>
        </p:txBody>
      </p:sp>
      <p:sp>
        <p:nvSpPr>
          <p:cNvPr id="93" name="Oval 92"/>
          <p:cNvSpPr/>
          <p:nvPr/>
        </p:nvSpPr>
        <p:spPr>
          <a:xfrm>
            <a:off x="548640" y="1920240"/>
            <a:ext cx="6858000" cy="109728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97280" y="20116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0F172A"/>
                </a:solidFill>
                <a:latin typeface="Microsoft YaHei"/>
              </a:defRPr>
            </a:pPr>
            <a:r>
              <a:t>AI 智能学习辅助系统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97280" y="3017520"/>
            <a:ext cx="2743200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97280" y="3291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Microsoft YaHei"/>
              </a:defRPr>
            </a:pPr>
            <a:r>
              <a:t>基于多智能体协同的个性化学习路径规划与效果评估平台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97280" y="4114800"/>
            <a:ext cx="1325880" cy="329184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97280" y="4133087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5CF6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560320" y="4114800"/>
            <a:ext cx="1325880" cy="329184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560320" y="4133087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B82F6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023360" y="4114800"/>
            <a:ext cx="1325880" cy="329184"/>
          </a:xfrm>
          <a:prstGeom prst="roundRect">
            <a:avLst/>
          </a:prstGeom>
          <a:solidFill>
            <a:srgbClr val="CCFBF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023360" y="4133087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Microsoft YaHei"/>
              </a:defRPr>
            </a:pPr>
            <a:r>
              <a:t>Spring AI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486400" y="4114800"/>
            <a:ext cx="1325880" cy="329184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486400" y="4133087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Microsoft YaHei"/>
              </a:defRPr>
            </a:pPr>
            <a:r>
              <a:t>多智能体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949440" y="4114800"/>
            <a:ext cx="1325880" cy="329184"/>
          </a:xfrm>
          <a:prstGeom prst="roundRect">
            <a:avLst/>
          </a:prstGeom>
          <a:solidFill>
            <a:srgbClr val="FCE7F3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49440" y="4133087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4899"/>
                </a:solidFill>
                <a:latin typeface="Microsoft YaHei"/>
              </a:defRPr>
            </a:pPr>
            <a:r>
              <a:t>个性化学习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97280" y="5303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MediCraft Development Team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97280" y="5577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2026 年度大学生创新创业项目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88720" y="1371600"/>
            <a:ext cx="475488" cy="47548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137160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389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16916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传统教育痛点与AI赋能机遇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1993392"/>
            <a:ext cx="8686800" cy="12700"/>
          </a:xfrm>
          <a:prstGeom prst="rect">
            <a:avLst/>
          </a:prstGeom>
          <a:gradFill rotWithShape="1">
            <a:gsLst>
              <a:gs pos="0">
                <a:srgbClr val="EDE9FE"/>
              </a:gs>
              <a:gs pos="100000">
                <a:srgbClr val="DBEAF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2194560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219456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212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5146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全链路AI辅助学习平台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2816352"/>
            <a:ext cx="8686800" cy="12700"/>
          </a:xfrm>
          <a:prstGeom prst="rect">
            <a:avLst/>
          </a:prstGeom>
          <a:gradFill rotWithShape="1">
            <a:gsLst>
              <a:gs pos="0">
                <a:srgbClr val="EDE9FE"/>
              </a:gs>
              <a:gs pos="100000">
                <a:srgbClr val="DBEAF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88720" y="3017520"/>
            <a:ext cx="475488" cy="47548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301752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0358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3375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五大智能模块详解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639312"/>
            <a:ext cx="8686800" cy="12700"/>
          </a:xfrm>
          <a:prstGeom prst="rect">
            <a:avLst/>
          </a:prstGeom>
          <a:gradFill rotWithShape="1">
            <a:gsLst>
              <a:gs pos="0">
                <a:srgbClr val="EDE9FE"/>
              </a:gs>
              <a:gs pos="100000">
                <a:srgbClr val="DBEAF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8720" y="384048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384048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858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160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前后端分离+多智能体协同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20240" y="4462272"/>
            <a:ext cx="8686800" cy="12700"/>
          </a:xfrm>
          <a:prstGeom prst="rect">
            <a:avLst/>
          </a:prstGeom>
          <a:gradFill rotWithShape="1">
            <a:gsLst>
              <a:gs pos="0">
                <a:srgbClr val="EDE9FE"/>
              </a:gs>
              <a:gs pos="100000">
                <a:srgbClr val="DBEAF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88720" y="466344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466344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创新亮点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983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架构创新与工程实践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5285232"/>
            <a:ext cx="8686800" cy="12700"/>
          </a:xfrm>
          <a:prstGeom prst="rect">
            <a:avLst/>
          </a:prstGeom>
          <a:gradFill rotWithShape="1">
            <a:gsLst>
              <a:gs pos="0">
                <a:srgbClr val="EDE9FE"/>
              </a:gs>
              <a:gs pos="100000">
                <a:srgbClr val="DBEAF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88720" y="5486400"/>
            <a:ext cx="475488" cy="47548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548640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58064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成果展示与未来规划</a:t>
            </a:r>
          </a:p>
        </p:txBody>
      </p:sp>
      <p:sp>
        <p:nvSpPr>
          <p:cNvPr id="53" name="Oval 52"/>
          <p:cNvSpPr/>
          <p:nvPr/>
        </p:nvSpPr>
        <p:spPr>
          <a:xfrm>
            <a:off x="9144000" y="1371600"/>
            <a:ext cx="2743200" cy="2743200"/>
          </a:xfrm>
          <a:prstGeom prst="ellipse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058400" y="228600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WHY WE BUILD THIS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1371600"/>
            <a:ext cx="53035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" y="1444752"/>
            <a:ext cx="73152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传统教育困境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2249424"/>
            <a:ext cx="118872" cy="11887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9888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学习资源千篇一律，无法满足个性化需求</a:t>
            </a:r>
          </a:p>
        </p:txBody>
      </p:sp>
      <p:sp>
        <p:nvSpPr>
          <p:cNvPr id="30" name="Oval 29"/>
          <p:cNvSpPr/>
          <p:nvPr/>
        </p:nvSpPr>
        <p:spPr>
          <a:xfrm>
            <a:off x="1097280" y="3026664"/>
            <a:ext cx="118872" cy="11887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2971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学生缺乏科学的学习路径规划指导</a:t>
            </a:r>
          </a:p>
        </p:txBody>
      </p:sp>
      <p:sp>
        <p:nvSpPr>
          <p:cNvPr id="32" name="Oval 31"/>
          <p:cNvSpPr/>
          <p:nvPr/>
        </p:nvSpPr>
        <p:spPr>
          <a:xfrm>
            <a:off x="1097280" y="3803904"/>
            <a:ext cx="118872" cy="11887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9888" y="3749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学习效果评估依赖考试，维度单一</a:t>
            </a:r>
          </a:p>
        </p:txBody>
      </p:sp>
      <p:sp>
        <p:nvSpPr>
          <p:cNvPr id="34" name="Oval 33"/>
          <p:cNvSpPr/>
          <p:nvPr/>
        </p:nvSpPr>
        <p:spPr>
          <a:xfrm>
            <a:off x="1097280" y="4581144"/>
            <a:ext cx="118872" cy="11887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9888" y="4526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师生比失衡，个性化辅导难以实现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371600"/>
            <a:ext cx="53035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5392" y="1444752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AI 赋能机遇</a:t>
            </a:r>
          </a:p>
        </p:txBody>
      </p:sp>
      <p:sp>
        <p:nvSpPr>
          <p:cNvPr id="40" name="Oval 39"/>
          <p:cNvSpPr/>
          <p:nvPr/>
        </p:nvSpPr>
        <p:spPr>
          <a:xfrm>
            <a:off x="6766560" y="2249424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大语言模型可实现智能内容生成</a:t>
            </a:r>
          </a:p>
        </p:txBody>
      </p:sp>
      <p:sp>
        <p:nvSpPr>
          <p:cNvPr id="42" name="Oval 41"/>
          <p:cNvSpPr/>
          <p:nvPr/>
        </p:nvSpPr>
        <p:spPr>
          <a:xfrm>
            <a:off x="6766560" y="3026664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59168" y="2971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多智能体协同处理复杂教育任务</a:t>
            </a:r>
          </a:p>
        </p:txBody>
      </p:sp>
      <p:sp>
        <p:nvSpPr>
          <p:cNvPr id="44" name="Oval 43"/>
          <p:cNvSpPr/>
          <p:nvPr/>
        </p:nvSpPr>
        <p:spPr>
          <a:xfrm>
            <a:off x="6766560" y="3803904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59168" y="3749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数据驱动的精准学情分析成为可能</a:t>
            </a:r>
          </a:p>
        </p:txBody>
      </p:sp>
      <p:sp>
        <p:nvSpPr>
          <p:cNvPr id="46" name="Oval 45"/>
          <p:cNvSpPr/>
          <p:nvPr/>
        </p:nvSpPr>
        <p:spPr>
          <a:xfrm>
            <a:off x="6766560" y="4581144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9168" y="4526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个性化学习路径自动规划与调整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MediCraft - AI SMART LEARNING PLATFORM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MediCraft 是一个基于多智能体协同的个性化学习平台，为学生提供从画像构建、资源生成、路径规划到效果评估的全链路 AI 辅助学习体验。</a:t>
            </a:r>
          </a:p>
        </p:txBody>
      </p:sp>
      <p:sp>
        <p:nvSpPr>
          <p:cNvPr id="25" name="Oval 24"/>
          <p:cNvSpPr/>
          <p:nvPr/>
        </p:nvSpPr>
        <p:spPr>
          <a:xfrm>
            <a:off x="4846320" y="2468880"/>
            <a:ext cx="2103120" cy="210312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94960" y="292608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292608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237744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80160" y="24140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2432304"/>
            <a:ext cx="3657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783080" y="251460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251460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297180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学习画像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2461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6维画像构建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438912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0" y="44256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1568" y="4443984"/>
            <a:ext cx="3657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886200" y="4526280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6200" y="452628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9834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资源生成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2578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6大AI智能体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94960" y="475488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0" y="479145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04688" y="4809744"/>
            <a:ext cx="36576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89320" y="4892040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489204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5349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56235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动态路径调整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79" y="438912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89519" y="44256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07807" y="4443984"/>
            <a:ext cx="365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92439" y="45262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39" y="452628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19" y="49834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19" y="52578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多模态答疑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01200" y="237744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92640" y="24140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10928" y="2432304"/>
            <a:ext cx="3657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195560" y="251460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95560" y="251460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297180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效果评估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32461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多维度评估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模块一：用户与学习画像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AI-POWERED STUDENT PROFILING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对话式画像构建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通过多轮 AI 对话，自然收集学生学习特征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2377440"/>
            <a:ext cx="4206240" cy="4572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2468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你好！请告诉我你的专业和年级？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2999232"/>
            <a:ext cx="4206240" cy="4572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30906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用户: 我是计算机科学专业，大三学生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3621024"/>
            <a:ext cx="4206240" cy="4572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3712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你的学习目标是什么？希望提升哪些方面？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45920" y="4242816"/>
            <a:ext cx="4206240" cy="4572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43342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用户: 想系统学习Spring Boot，准备春招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六维学习画像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2103120"/>
            <a:ext cx="196596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49440" y="2157984"/>
            <a:ext cx="3657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7728" y="226771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知识基础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已有知识水平评估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560" y="2103120"/>
            <a:ext cx="196596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2157984"/>
            <a:ext cx="3657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88" y="226771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认知风格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学习偏好分析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3337560"/>
            <a:ext cx="196596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49440" y="3392424"/>
            <a:ext cx="36576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7728" y="35021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7728" y="37947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阶段性目标设定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52560" y="3337560"/>
            <a:ext cx="196596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0" y="3392424"/>
            <a:ext cx="3657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62288" y="35021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易错点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62288" y="37947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薄弱知识点识别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0" y="4572000"/>
            <a:ext cx="196596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49440" y="4626864"/>
            <a:ext cx="365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67728" y="47365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学习节奏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67728" y="50292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学习强度适配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2560" y="4572000"/>
            <a:ext cx="196596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0" y="4626864"/>
            <a:ext cx="36576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62288" y="47365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资源偏好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62288" y="50292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内容形式偏好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模块二：AI 多智能体资源生成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MULTI-AGENT RESOURCE GENERATION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155448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155448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需求解析智能体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5CF6"/>
                </a:solidFill>
                <a:latin typeface="Microsoft YaHei"/>
              </a:defRPr>
            </a:pPr>
            <a:r>
              <a:t>Role: 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学习目标拆解 / 知识清单 / 推荐路径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137160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1999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45151" y="15544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1" y="155448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1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文档生成智能体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1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Microsoft YaHei"/>
              </a:defRPr>
            </a:pPr>
            <a:r>
              <a:t>Role: document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7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结构化文档 / 学习笔记 / 知识详解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598" y="137160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38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94190" y="1554480"/>
            <a:ext cx="420624" cy="42062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0" y="155448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283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思维导图智能体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283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6B6D4"/>
                </a:solidFill>
                <a:latin typeface="Microsoft YaHei"/>
              </a:defRPr>
            </a:pPr>
            <a:r>
              <a:t>Role: mind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18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知识体系 / 关联可视化 / 复习提纲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" y="39684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96112" y="411480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" y="411480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4752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题库生成智能体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44752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Microsoft YaHei"/>
              </a:defRPr>
            </a:pPr>
            <a:r>
              <a:t>Role: question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多难度练习 / 选择填空 / 解析评分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80559" y="393192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1999" y="39684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645151" y="411480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45151" y="411480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93791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实操案例智能体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93791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Microsoft YaHei"/>
              </a:defRPr>
            </a:pPr>
            <a:r>
              <a:t>Role: case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79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代码实战 / 项目拆解 / 调试排错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598" y="393192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21038" y="39684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394190" y="4114800"/>
            <a:ext cx="420624" cy="420624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94190" y="411480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42830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多模态智能体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42830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C4899"/>
                </a:solidFill>
                <a:latin typeface="Microsoft YaHei"/>
              </a:defRPr>
            </a:pPr>
            <a:r>
              <a:t>Role: multimodal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18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视频脚本 / 音频讲解 / 动画文案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资源生成流程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ASYNCHRONOUS GENERATION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14996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280" y="1627632"/>
            <a:ext cx="475488" cy="47548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选择智能体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从6大智能体中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选择目标角色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34640" y="14996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83280" y="1627632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6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输入主题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6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填写学习主题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16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难度与参数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20640" y="14996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69280" y="1627632"/>
            <a:ext cx="475488" cy="47548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2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异步生成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2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后端异步调用AI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实时进度轮询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06640" y="14996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955280" y="162763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88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质量校验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8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AI内容格式校验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88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自动修复兼容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3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01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92640" y="14996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241280" y="1627632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74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资源入库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74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结果持久化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74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关联学习路径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114800"/>
            <a:ext cx="1051560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2960" y="41513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核心技术要点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46177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策略模式: AgentStrategyFactory 自动发现 + 按 role 分发，新增智能体零改动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" y="487375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异步解耦: ResourceAsyncExecutor 独立 Bean，解决 Spring @Async 自调用失效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" y="512978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Prompt 工程化: 每个智能体独立 Prompt 模板，存储在数据库支持动态配置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538581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进度轮询: 前端 2s 间隔轮询，实时展示 0-100% 生成进度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模块三：个性化学习路径规划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DYNAMIC LEARNING PATH PLANNING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AI 智能路径生成</a:t>
            </a:r>
          </a:p>
        </p:txBody>
      </p:sp>
      <p:sp>
        <p:nvSpPr>
          <p:cNvPr id="27" name="Oval 26"/>
          <p:cNvSpPr/>
          <p:nvPr/>
        </p:nvSpPr>
        <p:spPr>
          <a:xfrm>
            <a:off x="1234440" y="223113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98448" y="2414016"/>
            <a:ext cx="1524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2194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基础语法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24231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变量、数据类型、控制流</a:t>
            </a:r>
          </a:p>
        </p:txBody>
      </p:sp>
      <p:sp>
        <p:nvSpPr>
          <p:cNvPr id="31" name="Oval 30"/>
          <p:cNvSpPr/>
          <p:nvPr/>
        </p:nvSpPr>
        <p:spPr>
          <a:xfrm>
            <a:off x="1234440" y="2962656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98448" y="3145536"/>
            <a:ext cx="1524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0200" y="2926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框架入门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31546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Spring Boot 核心概念</a:t>
            </a:r>
          </a:p>
        </p:txBody>
      </p:sp>
      <p:sp>
        <p:nvSpPr>
          <p:cNvPr id="35" name="Oval 34"/>
          <p:cNvSpPr/>
          <p:nvPr/>
        </p:nvSpPr>
        <p:spPr>
          <a:xfrm>
            <a:off x="1234440" y="3694176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98448" y="3877056"/>
            <a:ext cx="1524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3657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38862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MySQL + MyBatis-Plus</a:t>
            </a:r>
          </a:p>
        </p:txBody>
      </p:sp>
      <p:sp>
        <p:nvSpPr>
          <p:cNvPr id="39" name="Oval 38"/>
          <p:cNvSpPr/>
          <p:nvPr/>
        </p:nvSpPr>
        <p:spPr>
          <a:xfrm>
            <a:off x="1234440" y="4425696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98448" y="4608576"/>
            <a:ext cx="1524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00200" y="4389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项目实战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617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完整项目开发与部署</a:t>
            </a:r>
          </a:p>
        </p:txBody>
      </p:sp>
      <p:sp>
        <p:nvSpPr>
          <p:cNvPr id="43" name="Oval 42"/>
          <p:cNvSpPr/>
          <p:nvPr/>
        </p:nvSpPr>
        <p:spPr>
          <a:xfrm>
            <a:off x="1234440" y="5157216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0200" y="51206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知识测验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5349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综合测验与评估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7512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5 种动态调整方式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0" y="2194560"/>
            <a:ext cx="4206240" cy="594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31152" y="2249424"/>
            <a:ext cx="3200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22592" y="2267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Microsoft YaHei"/>
              </a:defRPr>
            </a:pPr>
            <a:r>
              <a:t>延长周期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267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学习节奏太快，需要更多时间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0" y="2944368"/>
            <a:ext cx="4206240" cy="594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31152" y="2999232"/>
            <a:ext cx="3200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2592" y="30175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Microsoft YaHei"/>
              </a:defRPr>
            </a:pPr>
            <a:r>
              <a:t>压缩周期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学习进度超前，加快节奏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0" y="3694176"/>
            <a:ext cx="4206240" cy="594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31152" y="3749040"/>
            <a:ext cx="32004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22592" y="37673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Microsoft YaHei"/>
              </a:defRPr>
            </a:pPr>
            <a:r>
              <a:t>调整顺序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767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拖拽调整学习内容先后顺序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0" y="4443984"/>
            <a:ext cx="4206240" cy="594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931152" y="4498848"/>
            <a:ext cx="3200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22592" y="451713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新增内容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5171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补充额外知识点到路径中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58000" y="5193792"/>
            <a:ext cx="4206240" cy="594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31152" y="5248656"/>
            <a:ext cx="32004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22592" y="526694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Microsoft YaHei"/>
              </a:defRPr>
            </a:pPr>
            <a:r>
              <a:t>简化内容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52669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移除已掌握的学习步骤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模块四：智能辅导答疑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AI-POWERED INTELLIGENT TUTORING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1371600"/>
            <a:ext cx="105156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多模态 AI 答疑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2194560"/>
            <a:ext cx="4572000" cy="475488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2286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我: 什么是 Spring Boot 的自动配置原理？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2816352"/>
            <a:ext cx="4572000" cy="47548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29077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Spring Boot 自动配置基于 @EnableAutoConfiguration...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438144"/>
            <a:ext cx="4572000" cy="475488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352958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我: 能举个具体的例子吗？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4059936"/>
            <a:ext cx="4572000" cy="47548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415137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当然！以 DataSourceAutoConfiguration 为例...</a:t>
            </a:r>
          </a:p>
        </p:txBody>
      </p:sp>
      <p:sp>
        <p:nvSpPr>
          <p:cNvPr id="35" name="Oval 34"/>
          <p:cNvSpPr/>
          <p:nvPr/>
        </p:nvSpPr>
        <p:spPr>
          <a:xfrm>
            <a:off x="7132320" y="223113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88352" y="2194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文字提问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243230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输入问题获取详细解答</a:t>
            </a:r>
          </a:p>
        </p:txBody>
      </p:sp>
      <p:sp>
        <p:nvSpPr>
          <p:cNvPr id="38" name="Oval 37"/>
          <p:cNvSpPr/>
          <p:nvPr/>
        </p:nvSpPr>
        <p:spPr>
          <a:xfrm>
            <a:off x="7132320" y="28529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88352" y="2816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图片识别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352" y="30540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支持截图/拍照识别题目</a:t>
            </a:r>
          </a:p>
        </p:txBody>
      </p:sp>
      <p:sp>
        <p:nvSpPr>
          <p:cNvPr id="41" name="Oval 40"/>
          <p:cNvSpPr/>
          <p:nvPr/>
        </p:nvSpPr>
        <p:spPr>
          <a:xfrm>
            <a:off x="7132320" y="347472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88352" y="34381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逐字显示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8352" y="36758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打字机效果流式输出</a:t>
            </a:r>
          </a:p>
        </p:txBody>
      </p:sp>
      <p:sp>
        <p:nvSpPr>
          <p:cNvPr id="44" name="Oval 43"/>
          <p:cNvSpPr/>
          <p:nvPr/>
        </p:nvSpPr>
        <p:spPr>
          <a:xfrm>
            <a:off x="7132320" y="409651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88352" y="4059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历史记录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8352" y="4297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保存所有答疑历史</a:t>
            </a:r>
          </a:p>
        </p:txBody>
      </p:sp>
      <p:sp>
        <p:nvSpPr>
          <p:cNvPr id="47" name="Oval 46"/>
          <p:cNvSpPr/>
          <p:nvPr/>
        </p:nvSpPr>
        <p:spPr>
          <a:xfrm>
            <a:off x="7132320" y="471830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88352" y="4681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多轮对话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88352" y="49194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支持追问和深入探讨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模块五：学习效果评估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MULTI-DIMENSIONAL LEARNING ASSESSMENT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AI 评估报告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2240280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根据学习行为数据生成</a:t>
            </a:r>
          </a:p>
        </p:txBody>
      </p:sp>
      <p:sp>
        <p:nvSpPr>
          <p:cNvPr id="29" name="Oval 28"/>
          <p:cNvSpPr/>
          <p:nvPr/>
        </p:nvSpPr>
        <p:spPr>
          <a:xfrm>
            <a:off x="1051560" y="2953512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8448" y="29077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多维度评估分析</a:t>
            </a:r>
          </a:p>
        </p:txBody>
      </p:sp>
      <p:sp>
        <p:nvSpPr>
          <p:cNvPr id="31" name="Oval 30"/>
          <p:cNvSpPr/>
          <p:nvPr/>
        </p:nvSpPr>
        <p:spPr>
          <a:xfrm>
            <a:off x="1051560" y="3666744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98448" y="3621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知识点掌握度 JSON</a:t>
            </a:r>
          </a:p>
        </p:txBody>
      </p:sp>
      <p:sp>
        <p:nvSpPr>
          <p:cNvPr id="33" name="Oval 32"/>
          <p:cNvSpPr/>
          <p:nvPr/>
        </p:nvSpPr>
        <p:spPr>
          <a:xfrm>
            <a:off x="1051560" y="4379976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98448" y="4334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薄弱点精准识别</a:t>
            </a:r>
          </a:p>
        </p:txBody>
      </p:sp>
      <p:sp>
        <p:nvSpPr>
          <p:cNvPr id="35" name="Oval 34"/>
          <p:cNvSpPr/>
          <p:nvPr/>
        </p:nvSpPr>
        <p:spPr>
          <a:xfrm>
            <a:off x="1051560" y="5093208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98448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个性化提升建议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59" y="1371600"/>
            <a:ext cx="34747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1999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79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数据统计</a:t>
            </a:r>
          </a:p>
        </p:txBody>
      </p:sp>
      <p:sp>
        <p:nvSpPr>
          <p:cNvPr id="40" name="Oval 39"/>
          <p:cNvSpPr/>
          <p:nvPr/>
        </p:nvSpPr>
        <p:spPr>
          <a:xfrm>
            <a:off x="4800599" y="2240280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7487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总学习时长统计</a:t>
            </a:r>
          </a:p>
        </p:txBody>
      </p:sp>
      <p:sp>
        <p:nvSpPr>
          <p:cNvPr id="42" name="Oval 41"/>
          <p:cNvSpPr/>
          <p:nvPr/>
        </p:nvSpPr>
        <p:spPr>
          <a:xfrm>
            <a:off x="4800599" y="295351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7487" y="29077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答题正确率趋势</a:t>
            </a:r>
          </a:p>
        </p:txBody>
      </p:sp>
      <p:sp>
        <p:nvSpPr>
          <p:cNvPr id="44" name="Oval 43"/>
          <p:cNvSpPr/>
          <p:nvPr/>
        </p:nvSpPr>
        <p:spPr>
          <a:xfrm>
            <a:off x="4800599" y="3666744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47487" y="3621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每日学习数据</a:t>
            </a:r>
          </a:p>
        </p:txBody>
      </p:sp>
      <p:sp>
        <p:nvSpPr>
          <p:cNvPr id="46" name="Oval 45"/>
          <p:cNvSpPr/>
          <p:nvPr/>
        </p:nvSpPr>
        <p:spPr>
          <a:xfrm>
            <a:off x="4800599" y="437997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7487" y="4334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资源类型分布</a:t>
            </a:r>
          </a:p>
        </p:txBody>
      </p:sp>
      <p:sp>
        <p:nvSpPr>
          <p:cNvPr id="48" name="Oval 47"/>
          <p:cNvSpPr/>
          <p:nvPr/>
        </p:nvSpPr>
        <p:spPr>
          <a:xfrm>
            <a:off x="4800599" y="509320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47487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各学科进度对比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598" y="1371600"/>
            <a:ext cx="34747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21038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18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能力雷达</a:t>
            </a:r>
          </a:p>
        </p:txBody>
      </p:sp>
      <p:sp>
        <p:nvSpPr>
          <p:cNvPr id="53" name="Oval 52"/>
          <p:cNvSpPr/>
          <p:nvPr/>
        </p:nvSpPr>
        <p:spPr>
          <a:xfrm>
            <a:off x="8549638" y="2240280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96526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知识掌握度评估</a:t>
            </a:r>
          </a:p>
        </p:txBody>
      </p:sp>
      <p:sp>
        <p:nvSpPr>
          <p:cNvPr id="55" name="Oval 54"/>
          <p:cNvSpPr/>
          <p:nvPr/>
        </p:nvSpPr>
        <p:spPr>
          <a:xfrm>
            <a:off x="8549638" y="2953512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96526" y="29077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技能应用能力</a:t>
            </a:r>
          </a:p>
        </p:txBody>
      </p:sp>
      <p:sp>
        <p:nvSpPr>
          <p:cNvPr id="57" name="Oval 56"/>
          <p:cNvSpPr/>
          <p:nvPr/>
        </p:nvSpPr>
        <p:spPr>
          <a:xfrm>
            <a:off x="8549638" y="3666744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96526" y="3621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学习进度追踪</a:t>
            </a:r>
          </a:p>
        </p:txBody>
      </p:sp>
      <p:sp>
        <p:nvSpPr>
          <p:cNvPr id="59" name="Oval 58"/>
          <p:cNvSpPr/>
          <p:nvPr/>
        </p:nvSpPr>
        <p:spPr>
          <a:xfrm>
            <a:off x="8549638" y="4379976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96526" y="4334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练习准确率分析</a:t>
            </a:r>
          </a:p>
        </p:txBody>
      </p:sp>
      <p:sp>
        <p:nvSpPr>
          <p:cNvPr id="61" name="Oval 60"/>
          <p:cNvSpPr/>
          <p:nvPr/>
        </p:nvSpPr>
        <p:spPr>
          <a:xfrm>
            <a:off x="8549638" y="5093208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96526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学习一致性评分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TECHNICAL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1371600"/>
            <a:ext cx="105156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1426464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15361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15544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Vue 3 + Vite + Element Plus + Pinia + Vue Router + Axios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192024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登录注册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192024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画像构建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192024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资源生成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192024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0" y="192024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192024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效果评估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108960"/>
            <a:ext cx="105156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314553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" y="3163824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3273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后端层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3291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Spring Boot 3 + Spring AI + MyBatis-Plus + JWT + Redis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365760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用户模块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365760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画像模块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365760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资源模块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52160" y="365760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路径模块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98080" y="365760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辅导模块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0" y="365760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评估模块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4846320"/>
            <a:ext cx="105156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2960" y="48828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4672" y="4901184"/>
            <a:ext cx="54864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010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03120" y="50292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MySQL 8.0 + Redis 6.0 + 14张业务表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539496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560320" y="539496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6032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画像表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06240" y="539496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0624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资源表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852160" y="539496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5216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路径表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98080" y="539496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8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行为表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144000" y="5394960"/>
            <a:ext cx="146304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评估表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技术栈详情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131673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后端技术栈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0" y="1975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44752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Spring Boot 3.3.5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1920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应用框架</a:t>
            </a:r>
          </a:p>
        </p:txBody>
      </p:sp>
      <p:sp>
        <p:nvSpPr>
          <p:cNvPr id="30" name="Oval 29"/>
          <p:cNvSpPr/>
          <p:nvPr/>
        </p:nvSpPr>
        <p:spPr>
          <a:xfrm>
            <a:off x="1188720" y="250545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44752" y="24505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Java 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24505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编程语言</a:t>
            </a:r>
          </a:p>
        </p:txBody>
      </p:sp>
      <p:sp>
        <p:nvSpPr>
          <p:cNvPr id="33" name="Oval 32"/>
          <p:cNvSpPr/>
          <p:nvPr/>
        </p:nvSpPr>
        <p:spPr>
          <a:xfrm>
            <a:off x="1188720" y="303580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4752" y="29809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Spring AI 1.0.0-M6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29809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AI 框架</a:t>
            </a:r>
          </a:p>
        </p:txBody>
      </p:sp>
      <p:sp>
        <p:nvSpPr>
          <p:cNvPr id="36" name="Oval 35"/>
          <p:cNvSpPr/>
          <p:nvPr/>
        </p:nvSpPr>
        <p:spPr>
          <a:xfrm>
            <a:off x="1188720" y="35661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44752" y="35112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MyBatis-Plus 3.5.11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5112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ORM 框架</a:t>
            </a:r>
          </a:p>
        </p:txBody>
      </p:sp>
      <p:sp>
        <p:nvSpPr>
          <p:cNvPr id="39" name="Oval 38"/>
          <p:cNvSpPr/>
          <p:nvPr/>
        </p:nvSpPr>
        <p:spPr>
          <a:xfrm>
            <a:off x="1188720" y="40965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44752" y="40416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MySQL 8.0+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4041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42" name="Oval 41"/>
          <p:cNvSpPr/>
          <p:nvPr/>
        </p:nvSpPr>
        <p:spPr>
          <a:xfrm>
            <a:off x="1188720" y="4626864"/>
            <a:ext cx="109728" cy="10972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44752" y="45720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Redis 6.0+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缓存</a:t>
            </a:r>
          </a:p>
        </p:txBody>
      </p:sp>
      <p:sp>
        <p:nvSpPr>
          <p:cNvPr id="45" name="Oval 44"/>
          <p:cNvSpPr/>
          <p:nvPr/>
        </p:nvSpPr>
        <p:spPr>
          <a:xfrm>
            <a:off x="1188720" y="515721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4752" y="51023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JWT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用户认证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280160"/>
            <a:ext cx="502920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92240" y="131673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前端技术栈</a:t>
            </a:r>
          </a:p>
        </p:txBody>
      </p:sp>
      <p:sp>
        <p:nvSpPr>
          <p:cNvPr id="51" name="Oval 50"/>
          <p:cNvSpPr/>
          <p:nvPr/>
        </p:nvSpPr>
        <p:spPr>
          <a:xfrm>
            <a:off x="6858000" y="1975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14032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1920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前端框架</a:t>
            </a:r>
          </a:p>
        </p:txBody>
      </p:sp>
      <p:sp>
        <p:nvSpPr>
          <p:cNvPr id="54" name="Oval 53"/>
          <p:cNvSpPr/>
          <p:nvPr/>
        </p:nvSpPr>
        <p:spPr>
          <a:xfrm>
            <a:off x="6858000" y="250545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14032" y="24505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Vite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24505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构建工具</a:t>
            </a:r>
          </a:p>
        </p:txBody>
      </p:sp>
      <p:sp>
        <p:nvSpPr>
          <p:cNvPr id="57" name="Oval 56"/>
          <p:cNvSpPr/>
          <p:nvPr/>
        </p:nvSpPr>
        <p:spPr>
          <a:xfrm>
            <a:off x="6858000" y="303580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14032" y="29809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29809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UI 组件库</a:t>
            </a:r>
          </a:p>
        </p:txBody>
      </p:sp>
      <p:sp>
        <p:nvSpPr>
          <p:cNvPr id="60" name="Oval 59"/>
          <p:cNvSpPr/>
          <p:nvPr/>
        </p:nvSpPr>
        <p:spPr>
          <a:xfrm>
            <a:off x="6858000" y="35661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14032" y="35112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Pinia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35112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状态管理</a:t>
            </a:r>
          </a:p>
        </p:txBody>
      </p:sp>
      <p:sp>
        <p:nvSpPr>
          <p:cNvPr id="63" name="Oval 62"/>
          <p:cNvSpPr/>
          <p:nvPr/>
        </p:nvSpPr>
        <p:spPr>
          <a:xfrm>
            <a:off x="6858000" y="40965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14032" y="40416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Vue Router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8320" y="4041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前端路由</a:t>
            </a:r>
          </a:p>
        </p:txBody>
      </p:sp>
      <p:sp>
        <p:nvSpPr>
          <p:cNvPr id="66" name="Oval 65"/>
          <p:cNvSpPr/>
          <p:nvPr/>
        </p:nvSpPr>
        <p:spPr>
          <a:xfrm>
            <a:off x="6858000" y="4626864"/>
            <a:ext cx="109728" cy="10972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14032" y="45720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Axios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HTTP 请求</a:t>
            </a:r>
          </a:p>
        </p:txBody>
      </p:sp>
      <p:sp>
        <p:nvSpPr>
          <p:cNvPr id="69" name="Oval 68"/>
          <p:cNvSpPr/>
          <p:nvPr/>
        </p:nvSpPr>
        <p:spPr>
          <a:xfrm>
            <a:off x="6858000" y="515721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14032" y="51023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Markdown 渲染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2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富文本展示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DATABASE DESIGN - 14 TABLES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B5CF6"/>
                </a:solidFill>
                <a:latin typeface="Microsoft YaHei"/>
              </a:defRPr>
            </a:pPr>
            <a:r>
              <a:t>sys_user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用户表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B82F6"/>
                </a:solidFill>
                <a:latin typeface="Microsoft YaHei"/>
              </a:defRPr>
            </a:pPr>
            <a:r>
              <a:t>student_profile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学习画像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B6D4"/>
                </a:solidFill>
                <a:latin typeface="Microsoft YaHei"/>
              </a:defRPr>
            </a:pPr>
            <a:r>
              <a:t>chat_context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对话上下文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1715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Microsoft YaHei"/>
              </a:defRPr>
            </a:pPr>
            <a:r>
              <a:t>ai_agent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AI智能体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30540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B5CF6"/>
                </a:solidFill>
                <a:latin typeface="Microsoft YaHei"/>
              </a:defRPr>
            </a:pPr>
            <a:r>
              <a:t>learning_resource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学习资源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74720" y="30540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787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B82F6"/>
                </a:solidFill>
                <a:latin typeface="Microsoft YaHei"/>
              </a:defRPr>
            </a:pPr>
            <a:r>
              <a:t>learning_path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4787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学习路径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30540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8251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B6D4"/>
                </a:solidFill>
                <a:latin typeface="Microsoft YaHei"/>
              </a:defRPr>
            </a:pPr>
            <a:r>
              <a:t>learning_path_step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251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路径步骤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5256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44000" y="30540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1715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Microsoft YaHei"/>
              </a:defRPr>
            </a:pPr>
            <a:r>
              <a:t>step_resource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715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步骤资源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47000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9E0B"/>
                </a:solidFill>
                <a:latin typeface="Microsoft YaHei"/>
              </a:defRPr>
            </a:pPr>
            <a:r>
              <a:t>learning_behavior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学习行为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8328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74720" y="47000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4787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EC4899"/>
                </a:solidFill>
                <a:latin typeface="Microsoft YaHei"/>
              </a:defRPr>
            </a:pPr>
            <a:r>
              <a:t>question_answer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4787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答题记录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09360" y="47000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8251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43F5E"/>
                </a:solidFill>
                <a:latin typeface="Microsoft YaHei"/>
              </a:defRPr>
            </a:pPr>
            <a:r>
              <a:t>video_progress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8251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视频进度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5256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0" y="470001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1715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9E0B"/>
                </a:solidFill>
                <a:latin typeface="Microsoft YaHei"/>
              </a:defRPr>
            </a:pPr>
            <a:r>
              <a:t>learning_evaluate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1715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学习评估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8640" y="630936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0080" y="634593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3232" y="6565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EC4899"/>
                </a:solidFill>
                <a:latin typeface="Microsoft YaHei"/>
              </a:defRPr>
            </a:pPr>
            <a:r>
              <a:t>smart_tutor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" y="6858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83280" y="630936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474720" y="634593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47872" y="6565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43F5E"/>
                </a:solidFill>
                <a:latin typeface="Microsoft YaHei"/>
              </a:defRPr>
            </a:pPr>
            <a:r>
              <a:t>generate_task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47872" y="6858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生成任务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创新亮点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INNOVATION HIGHLIGHTS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137160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多智能体策略模式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6个智能体各自独立策略类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新增智能体只需实现接口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2660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符合开闭原则 OCP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137160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07992" y="1536192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7992" y="153619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1768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对话式画像构建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2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AI多轮对话收集信息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自动抽取结构化字段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2660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替代传统表单填写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137160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02752" y="1536192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2" y="153619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异步任务解耦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独立Bean解决@Async失效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前端轮询实时进度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2660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零长连接依赖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393192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" y="39684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13232" y="409651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40965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07008" y="4133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Prompt 工程化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各智能体独立Prompt模板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" y="4919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数据库存储动态配置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" y="5221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结构化输出确保质量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43400" y="393192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34840" y="39684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507992" y="409651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07992" y="40965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01768" y="4133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动态路径调整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9432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5种调整方式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99432" y="4919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AI自动重新规划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99432" y="5221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实时更新倒计时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38160" y="393192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29600" y="396849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02752" y="4096512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02752" y="40965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96528" y="4133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全链路评估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94192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行为+答题+AI分析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94192" y="4919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多维度能力雷达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94192" y="5221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自动同步画像更新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82880"/>
            <a:ext cx="9692640" cy="82296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822960"/>
            <a:ext cx="18288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项目成果与未来规划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ACHIEVEMENTS &amp; ROADMAP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项目成果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487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487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AI 智能体角色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487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数据库表设计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584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前端页面组件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584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REST API 端点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1408176"/>
            <a:ext cx="457200" cy="25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未来规划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0" y="206654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2" y="2011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SSE 流式输出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22677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接入 Server-Sent Events 实现真正流式响应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0" y="2843784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14032" y="27889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Redis 深度缓存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2" y="30449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画像、资源、统计数据全面缓存优化</a:t>
            </a:r>
          </a:p>
        </p:txBody>
      </p:sp>
      <p:sp>
        <p:nvSpPr>
          <p:cNvPr id="46" name="Oval 45"/>
          <p:cNvSpPr/>
          <p:nvPr/>
        </p:nvSpPr>
        <p:spPr>
          <a:xfrm>
            <a:off x="6858000" y="3621024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35661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WebSocket 通知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4032" y="38221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实时推送通知（新资源、路径建议）</a:t>
            </a:r>
          </a:p>
        </p:txBody>
      </p:sp>
      <p:sp>
        <p:nvSpPr>
          <p:cNvPr id="49" name="Oval 48"/>
          <p:cNvSpPr/>
          <p:nvPr/>
        </p:nvSpPr>
        <p:spPr>
          <a:xfrm>
            <a:off x="6858000" y="439826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14032" y="43434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加权评估算法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4032" y="4599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多维度加权评分，更精准的效果评估</a:t>
            </a:r>
          </a:p>
        </p:txBody>
      </p:sp>
      <p:sp>
        <p:nvSpPr>
          <p:cNvPr id="52" name="Oval 51"/>
          <p:cNvSpPr/>
          <p:nvPr/>
        </p:nvSpPr>
        <p:spPr>
          <a:xfrm>
            <a:off x="6858000" y="517550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14032" y="5120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单元测试覆盖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4032" y="53766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补充 Service/Controller 层测试用例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914400"/>
            <a:ext cx="1112415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731520"/>
            <a:ext cx="1398763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914400"/>
            <a:ext cx="984838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731520"/>
            <a:ext cx="1101083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1005840"/>
            <a:ext cx="665693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828800"/>
            <a:ext cx="1488535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0" y="1554480"/>
            <a:ext cx="1331386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828800"/>
            <a:ext cx="1116167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0" y="1554480"/>
            <a:ext cx="1171003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5680" y="1188720"/>
            <a:ext cx="1756505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2743200"/>
            <a:ext cx="1273611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2286000"/>
            <a:ext cx="1131050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0" y="2560320"/>
            <a:ext cx="1445793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2743200"/>
            <a:ext cx="786596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2286000"/>
            <a:ext cx="1318766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0" y="2560320"/>
            <a:ext cx="786596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0" y="2103120"/>
            <a:ext cx="2132728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383280"/>
            <a:ext cx="1383738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383280"/>
            <a:ext cx="2586313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3200400"/>
            <a:ext cx="1202705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0" y="914400"/>
            <a:ext cx="109728" cy="10972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0" y="73152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0" y="1005840"/>
            <a:ext cx="91440" cy="9144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0" y="1828800"/>
            <a:ext cx="54864" cy="5486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75520" y="1554480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55680" y="1188720"/>
            <a:ext cx="64008" cy="6400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0" y="27432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0" y="2286000"/>
            <a:ext cx="100584" cy="100584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0" y="2560320"/>
            <a:ext cx="54864" cy="5486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30000" y="2103120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0" y="3383280"/>
            <a:ext cx="64008" cy="6400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0" y="3200400"/>
            <a:ext cx="82296" cy="8229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89920" y="3017520"/>
            <a:ext cx="73152" cy="7315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89520" y="1371600"/>
            <a:ext cx="45720" cy="457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72800" y="731520"/>
            <a:ext cx="54864" cy="5486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-402336" y="3977639"/>
            <a:ext cx="778689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59" y="3849624"/>
            <a:ext cx="979134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-402336" y="3977639"/>
            <a:ext cx="689388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59" y="3849624"/>
            <a:ext cx="770758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25879" y="4041648"/>
            <a:ext cx="465985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-146304" y="4617720"/>
            <a:ext cx="1041973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7823" y="4425696"/>
            <a:ext cx="931971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-146304" y="4617720"/>
            <a:ext cx="781317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3" y="4425696"/>
            <a:ext cx="819701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73936" y="4169663"/>
            <a:ext cx="1229554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-594360" y="5257800"/>
            <a:ext cx="891528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7744" y="4937760"/>
            <a:ext cx="791734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5839" y="5129783"/>
            <a:ext cx="1012055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-594360" y="5257800"/>
            <a:ext cx="550617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7744" y="4937760"/>
            <a:ext cx="923136" cy="127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5839" y="5129783"/>
            <a:ext cx="550617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65960" y="4809744"/>
            <a:ext cx="1492910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-274320" y="5705856"/>
            <a:ext cx="968616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-274320" y="5705856"/>
            <a:ext cx="1810418" cy="127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5577840"/>
            <a:ext cx="841892" cy="127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402336" y="3977639"/>
            <a:ext cx="76809" cy="76809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5759" y="3849624"/>
            <a:ext cx="51206" cy="5120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325879" y="4041648"/>
            <a:ext cx="64007" cy="64007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-146304" y="4617720"/>
            <a:ext cx="38404" cy="3840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77823" y="4425696"/>
            <a:ext cx="57607" cy="57607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773936" y="4169663"/>
            <a:ext cx="44805" cy="44805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-594360" y="5257800"/>
            <a:ext cx="51206" cy="5120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37744" y="4937760"/>
            <a:ext cx="70408" cy="70408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05839" y="5129783"/>
            <a:ext cx="38404" cy="3840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965960" y="4809744"/>
            <a:ext cx="64007" cy="64007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-274320" y="5705856"/>
            <a:ext cx="44805" cy="44805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5800" y="5577840"/>
            <a:ext cx="57607" cy="57607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517903" y="5449824"/>
            <a:ext cx="51206" cy="51206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-722376" y="4297680"/>
            <a:ext cx="32003" cy="32003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645919" y="3849624"/>
            <a:ext cx="38404" cy="384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371600" y="548640"/>
            <a:ext cx="36576" cy="365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926080" y="100584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572000" y="365760"/>
            <a:ext cx="45720" cy="457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972800" y="54864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31520" y="3200400"/>
            <a:ext cx="27432" cy="274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44000" y="5303520"/>
            <a:ext cx="27432" cy="2743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772400" y="4572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gradFill rotWithShape="1">
            <a:gsLst>
              <a:gs pos="0">
                <a:srgbClr val="CCFBF1">
                  <a:lumMod val="20000"/>
                  <a:lumOff val="80000"/>
                </a:srgbClr>
              </a:gs>
              <a:gs pos="100000">
                <a:srgbClr val="EDE9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00400" y="1371600"/>
            <a:ext cx="5943600" cy="1371600"/>
          </a:xfrm>
          <a:prstGeom prst="ellipse">
            <a:avLst/>
          </a:prstGeom>
          <a:gradFill rotWithShape="1">
            <a:gsLst>
              <a:gs pos="0">
                <a:srgbClr val="EDE9FE">
                  <a:lumMod val="20000"/>
                  <a:lumOff val="80000"/>
                </a:srgbClr>
              </a:gs>
              <a:gs pos="100000">
                <a:srgbClr val="DBEAFE">
                  <a:lumMod val="50000"/>
                  <a:lumOff val="5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F172A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0" y="2606040"/>
            <a:ext cx="2286000" cy="4445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5CF6"/>
                </a:solidFill>
                <a:latin typeface="Microsoft YaHei"/>
              </a:defRPr>
            </a:pPr>
            <a:r>
              <a:t>MediCraft - AI 智能学习辅助系统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0" y="3429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基于多智能体协同的个性化学习路径规划与效果评估平台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561691" y="3931920"/>
            <a:ext cx="1325880" cy="301752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561691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5CF6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997299" y="3931920"/>
            <a:ext cx="1325880" cy="301752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997299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B82F6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32907" y="3931920"/>
            <a:ext cx="1325880" cy="301752"/>
          </a:xfrm>
          <a:prstGeom prst="roundRect">
            <a:avLst/>
          </a:prstGeom>
          <a:solidFill>
            <a:srgbClr val="CCFBF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32907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Microsoft YaHei"/>
              </a:defRPr>
            </a:pPr>
            <a:r>
              <a:t>Spring AI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868515" y="3931920"/>
            <a:ext cx="1325880" cy="301752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68515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Microsoft YaHei"/>
              </a:defRPr>
            </a:pPr>
            <a:r>
              <a:t>多智能体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304123" y="3931920"/>
            <a:ext cx="1325880" cy="301752"/>
          </a:xfrm>
          <a:prstGeom prst="roundRect">
            <a:avLst/>
          </a:prstGeom>
          <a:solidFill>
            <a:srgbClr val="FCE7F3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04123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4899"/>
                </a:solidFill>
                <a:latin typeface="Microsoft YaHei"/>
              </a:defRPr>
            </a:pPr>
            <a:r>
              <a:t>个性化学习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0" y="45720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2026 年度大学生创新创业项目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