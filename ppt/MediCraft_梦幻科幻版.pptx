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315200" cy="6858000"/>
          </a:xfrm>
          <a:prstGeom prst="rect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029200" y="-914400"/>
            <a:ext cx="4114800" cy="41148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5943600" y="457200"/>
            <a:ext cx="2743200" cy="27432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1371600" y="4114800"/>
            <a:ext cx="3200400" cy="32004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029200"/>
            <a:ext cx="1828800" cy="18288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8229600" y="914400"/>
            <a:ext cx="4572000" cy="4572000"/>
          </a:xfrm>
          <a:prstGeom prst="ellipse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9144000" y="1828800"/>
            <a:ext cx="3200400" cy="320040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73152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26080" y="1005840"/>
            <a:ext cx="73152" cy="73152"/>
          </a:xfrm>
          <a:prstGeom prst="ellipse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0058400" y="2286000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731520" y="4114800"/>
            <a:ext cx="54864" cy="54864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155680" y="3474720"/>
            <a:ext cx="82296" cy="82296"/>
          </a:xfrm>
          <a:prstGeom prst="ellipse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7E8F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A78BFA"/>
                </a:solidFill>
                <a:latin typeface="Microsoft YaHei"/>
              </a:defRPr>
            </a:pPr>
            <a:r>
              <a:t>MediCraft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1920240"/>
            <a:ext cx="7315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800" b="1">
                <a:solidFill>
                  <a:srgbClr val="1E293B"/>
                </a:solidFill>
                <a:latin typeface="Microsoft YaHei"/>
              </a:defRPr>
            </a:pPr>
            <a:r>
              <a:t>AI 智能学习辅助系统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97280" y="3108960"/>
            <a:ext cx="2743200" cy="508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3383280"/>
            <a:ext cx="7315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475569"/>
                </a:solidFill>
                <a:latin typeface="Microsoft YaHei"/>
              </a:defRPr>
            </a:pPr>
            <a:r>
              <a:t>基于多智能体协同的个性化学习路径规划与效果评估平台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4389120"/>
            <a:ext cx="1371600" cy="347472"/>
          </a:xfrm>
          <a:prstGeom prst="roundRect">
            <a:avLst/>
          </a:prstGeom>
          <a:solidFill>
            <a:srgbClr val="E8E0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97280" y="44074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606040" y="4389120"/>
            <a:ext cx="1371600" cy="347472"/>
          </a:xfrm>
          <a:prstGeom prst="roundRect">
            <a:avLst/>
          </a:prstGeom>
          <a:solidFill>
            <a:srgbClr val="E8E0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606040" y="44074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114800" y="4389120"/>
            <a:ext cx="1371600" cy="347472"/>
          </a:xfrm>
          <a:prstGeom prst="roundRect">
            <a:avLst/>
          </a:prstGeom>
          <a:solidFill>
            <a:srgbClr val="E8E0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114800" y="44074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Spring AI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23560" y="4389120"/>
            <a:ext cx="1371600" cy="347472"/>
          </a:xfrm>
          <a:prstGeom prst="roundRect">
            <a:avLst/>
          </a:prstGeom>
          <a:solidFill>
            <a:srgbClr val="E8E0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623560" y="44074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多智能体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132320" y="4389120"/>
            <a:ext cx="1371600" cy="347472"/>
          </a:xfrm>
          <a:prstGeom prst="roundRect">
            <a:avLst/>
          </a:prstGeom>
          <a:solidFill>
            <a:srgbClr val="E8E0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4407408"/>
            <a:ext cx="13716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个性化学习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7280" y="548640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94A3B8"/>
                </a:solidFill>
                <a:latin typeface="Microsoft YaHei"/>
              </a:defRPr>
            </a:pPr>
            <a:r>
              <a:t>团队：MediCraft Development Team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80644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2026 年度大学生创新创业项目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目录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CONTENTS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88720" y="146304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46304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148132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E293B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20240" y="181051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传统教育痛点与AI赋能机遇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920240" y="2121408"/>
            <a:ext cx="822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88720" y="2267712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267712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920240" y="22860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E293B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2615184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全链路AI辅助学习平台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20240" y="2926080"/>
            <a:ext cx="822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188720" y="3072384"/>
            <a:ext cx="502920" cy="5029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188720" y="3072384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3090672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E293B"/>
                </a:solidFill>
                <a:latin typeface="Microsoft YaHei"/>
              </a:defRPr>
            </a:pPr>
            <a:r>
              <a:t>核心功能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920240" y="3419856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五大智能模块详解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920240" y="3730752"/>
            <a:ext cx="822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88720" y="3877056"/>
            <a:ext cx="502920" cy="50292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88720" y="3877056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20240" y="3895344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E293B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920240" y="4224528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前后端分离+多智能体协同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920240" y="4535424"/>
            <a:ext cx="822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88720" y="4681728"/>
            <a:ext cx="502920" cy="502920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188720" y="4681728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20240" y="4700016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E293B"/>
                </a:solidFill>
                <a:latin typeface="Microsoft YaHei"/>
              </a:defRPr>
            </a:pPr>
            <a:r>
              <a:t>创新亮点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920240" y="50292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架构创新与工程实践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920240" y="5340096"/>
            <a:ext cx="8229600" cy="127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88720" y="5486400"/>
            <a:ext cx="502920" cy="502920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188720" y="54864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920240" y="55046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E293B"/>
                </a:solidFill>
                <a:latin typeface="Microsoft YaHei"/>
              </a:defRPr>
            </a:pPr>
            <a:r>
              <a:t>项目总结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920240" y="5833872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成果展示与未来规划</a:t>
            </a:r>
          </a:p>
        </p:txBody>
      </p:sp>
      <p:sp>
        <p:nvSpPr>
          <p:cNvPr id="40" name="Oval 39"/>
          <p:cNvSpPr/>
          <p:nvPr/>
        </p:nvSpPr>
        <p:spPr>
          <a:xfrm>
            <a:off x="8686800" y="1371600"/>
            <a:ext cx="3657600" cy="3657600"/>
          </a:xfrm>
          <a:prstGeom prst="ellipse">
            <a:avLst/>
          </a:prstGeom>
          <a:solidFill>
            <a:srgbClr val="EE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9601200" y="2286000"/>
            <a:ext cx="2560320" cy="2560320"/>
          </a:xfrm>
          <a:prstGeom prst="ellipse">
            <a:avLst/>
          </a:prstGeom>
          <a:solidFill>
            <a:srgbClr val="E8F4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058400" y="3200400"/>
            <a:ext cx="1371600" cy="13716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2 / 16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项目背景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WHY WE BUILD THIS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3035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1536192"/>
            <a:ext cx="914400" cy="381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E293B"/>
                </a:solidFill>
                <a:latin typeface="Microsoft YaHei"/>
              </a:defRPr>
            </a:pPr>
            <a:r>
              <a:t>传统教育困境</a:t>
            </a:r>
          </a:p>
        </p:txBody>
      </p:sp>
      <p:sp>
        <p:nvSpPr>
          <p:cNvPr id="14" name="Oval 13"/>
          <p:cNvSpPr/>
          <p:nvPr/>
        </p:nvSpPr>
        <p:spPr>
          <a:xfrm>
            <a:off x="1143000" y="2340864"/>
            <a:ext cx="128016" cy="128016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63040" y="2286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学习资源千篇一律，无法满足个性化需求</a:t>
            </a:r>
          </a:p>
        </p:txBody>
      </p:sp>
      <p:sp>
        <p:nvSpPr>
          <p:cNvPr id="16" name="Oval 15"/>
          <p:cNvSpPr/>
          <p:nvPr/>
        </p:nvSpPr>
        <p:spPr>
          <a:xfrm>
            <a:off x="1143000" y="3090672"/>
            <a:ext cx="128016" cy="128016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63040" y="303580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学生缺乏科学的学习路径规划指导</a:t>
            </a:r>
          </a:p>
        </p:txBody>
      </p:sp>
      <p:sp>
        <p:nvSpPr>
          <p:cNvPr id="18" name="Oval 17"/>
          <p:cNvSpPr/>
          <p:nvPr/>
        </p:nvSpPr>
        <p:spPr>
          <a:xfrm>
            <a:off x="1143000" y="3840480"/>
            <a:ext cx="128016" cy="128016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78561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学习效果评估依赖考试，维度单一</a:t>
            </a:r>
          </a:p>
        </p:txBody>
      </p:sp>
      <p:sp>
        <p:nvSpPr>
          <p:cNvPr id="20" name="Oval 19"/>
          <p:cNvSpPr/>
          <p:nvPr/>
        </p:nvSpPr>
        <p:spPr>
          <a:xfrm>
            <a:off x="1143000" y="4590288"/>
            <a:ext cx="128016" cy="128016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63040" y="453542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师生比失衡，个性化辅导难以实现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463040"/>
            <a:ext cx="5303520" cy="43891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583680" y="1536192"/>
            <a:ext cx="914400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6916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100" b="1">
                <a:solidFill>
                  <a:srgbClr val="1E293B"/>
                </a:solidFill>
                <a:latin typeface="Microsoft YaHei"/>
              </a:defRPr>
            </a:pPr>
            <a:r>
              <a:t>AI 赋能机遇</a:t>
            </a:r>
          </a:p>
        </p:txBody>
      </p:sp>
      <p:sp>
        <p:nvSpPr>
          <p:cNvPr id="25" name="Oval 24"/>
          <p:cNvSpPr/>
          <p:nvPr/>
        </p:nvSpPr>
        <p:spPr>
          <a:xfrm>
            <a:off x="6812280" y="2340864"/>
            <a:ext cx="128016" cy="128016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286000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大语言模型可实现智能内容生成</a:t>
            </a:r>
          </a:p>
        </p:txBody>
      </p:sp>
      <p:sp>
        <p:nvSpPr>
          <p:cNvPr id="27" name="Oval 26"/>
          <p:cNvSpPr/>
          <p:nvPr/>
        </p:nvSpPr>
        <p:spPr>
          <a:xfrm>
            <a:off x="6812280" y="3090672"/>
            <a:ext cx="128016" cy="128016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0" y="3035808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多智能体协同处理复杂教育任务</a:t>
            </a:r>
          </a:p>
        </p:txBody>
      </p:sp>
      <p:sp>
        <p:nvSpPr>
          <p:cNvPr id="29" name="Oval 28"/>
          <p:cNvSpPr/>
          <p:nvPr/>
        </p:nvSpPr>
        <p:spPr>
          <a:xfrm>
            <a:off x="6812280" y="3840480"/>
            <a:ext cx="128016" cy="128016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132320" y="3785616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数据驱动的精准学情分析成为可能</a:t>
            </a:r>
          </a:p>
        </p:txBody>
      </p:sp>
      <p:sp>
        <p:nvSpPr>
          <p:cNvPr id="31" name="Oval 30"/>
          <p:cNvSpPr/>
          <p:nvPr/>
        </p:nvSpPr>
        <p:spPr>
          <a:xfrm>
            <a:off x="6812280" y="4590288"/>
            <a:ext cx="128016" cy="128016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4535424"/>
            <a:ext cx="4114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75569"/>
                </a:solidFill>
                <a:latin typeface="Microsoft YaHei"/>
              </a:defRPr>
            </a:pPr>
            <a:r>
              <a:t>个性化学习路径自动规划与调整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3 / 16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系统概述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MediCraft - AI SMART LEARNING PLATFORM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MediCraft 是一个基于多智能体协同的个性化学习平台，为学生提供从画像构建、资源生成、路径规划到效果评估的全链路 AI 辅助学习体验。</a:t>
            </a:r>
          </a:p>
        </p:txBody>
      </p:sp>
      <p:sp>
        <p:nvSpPr>
          <p:cNvPr id="12" name="Oval 11"/>
          <p:cNvSpPr/>
          <p:nvPr/>
        </p:nvSpPr>
        <p:spPr>
          <a:xfrm>
            <a:off x="5303520" y="2926080"/>
            <a:ext cx="1188720" cy="11887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303520" y="2926080"/>
            <a:ext cx="118872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800"/>
              </a:spcBef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AI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97280" y="2286000"/>
            <a:ext cx="201168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234440" y="2359152"/>
            <a:ext cx="4572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737360" y="2450592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737360" y="24505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34440" y="2926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学习画像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34440" y="3200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6维画像构建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00400" y="4389120"/>
            <a:ext cx="201168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337560" y="4462272"/>
            <a:ext cx="457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3840480" y="4553712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0" y="455371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37560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资源生成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37560" y="5303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6大AI智能体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303520" y="4754880"/>
            <a:ext cx="201168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5440680" y="4828032"/>
            <a:ext cx="45720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5943600" y="4919472"/>
            <a:ext cx="411480" cy="41148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943600" y="491947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40680" y="539496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40680" y="56692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动态路径调整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498079" y="4389120"/>
            <a:ext cx="201168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7635239" y="4462272"/>
            <a:ext cx="457200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138159" y="4553712"/>
            <a:ext cx="411480" cy="41148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138159" y="455371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635239" y="50292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635239" y="530352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多模态答疑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9601200" y="2286000"/>
            <a:ext cx="201168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9738360" y="2359152"/>
            <a:ext cx="457200" cy="38100"/>
          </a:xfrm>
          <a:prstGeom prst="rect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41280" y="2450592"/>
            <a:ext cx="411480" cy="411480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0" y="2450592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60" y="292608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1E293B"/>
                </a:solidFill>
                <a:latin typeface="Microsoft YaHei"/>
              </a:defRPr>
            </a:pPr>
            <a:r>
              <a:t>效果评估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738360" y="32004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多维度评估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4 / 16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模块一：用户与学习画像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AI-POWERED STUDENT PROFILING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78BFA"/>
                </a:solidFill>
                <a:latin typeface="Microsoft YaHei"/>
              </a:defRPr>
            </a:pPr>
            <a:r>
              <a:t>对话式画像构建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01168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通过多轮 AI 对话，自然收集学生学习特征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88720" y="2468880"/>
            <a:ext cx="4114800" cy="47548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298448" y="256032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你好！请告诉我你的专业和年级？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828800" y="3108960"/>
            <a:ext cx="4114800" cy="47548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938528" y="320040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用户: 我是计算机科学专业，大三学生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88720" y="3749040"/>
            <a:ext cx="4114800" cy="47548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298448" y="38404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你的学习目标是什么？希望提升哪些方面？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828800" y="4389120"/>
            <a:ext cx="4114800" cy="475488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38528" y="448056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用户: 想系统学习Spring Boot，准备春招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463040"/>
            <a:ext cx="4846320" cy="48463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78BFA"/>
                </a:solidFill>
                <a:latin typeface="Microsoft YaHei"/>
              </a:defRPr>
            </a:pPr>
            <a:r>
              <a:t>六维学习画像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0" y="2194560"/>
            <a:ext cx="1965960" cy="1051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967728" y="2267712"/>
            <a:ext cx="45720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99516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知识基础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95160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已有知识水平评估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52560" y="2194560"/>
            <a:ext cx="1965960" cy="1051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162288" y="2267712"/>
            <a:ext cx="45720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89720" y="23774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认知风格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89720" y="269748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学习偏好分析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858000" y="3474720"/>
            <a:ext cx="1965960" cy="1051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967728" y="3547872"/>
            <a:ext cx="45720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99516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学习目标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977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阶段性目标设定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52560" y="3474720"/>
            <a:ext cx="1965960" cy="1051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62288" y="3547872"/>
            <a:ext cx="457200" cy="38100"/>
          </a:xfrm>
          <a:prstGeom prst="rect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189720" y="36576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易错点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189720" y="397764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薄弱知识点识别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858000" y="4754880"/>
            <a:ext cx="1965960" cy="1051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967728" y="4828032"/>
            <a:ext cx="457200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99516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学习节奏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99516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学习强度适配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9052560" y="4754880"/>
            <a:ext cx="1965960" cy="105156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9162288" y="4828032"/>
            <a:ext cx="457200" cy="381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189720" y="493776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293B"/>
                </a:solidFill>
                <a:latin typeface="Microsoft YaHei"/>
              </a:defRPr>
            </a:pPr>
            <a:r>
              <a:t>资源偏好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89720" y="525780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内容形式偏好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5 / 16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模块二：AI 多智能体资源生成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MULTI-AGENT RESOURCE GENERATION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47472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" y="1536192"/>
            <a:ext cx="8229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32688" y="1664208"/>
            <a:ext cx="457200" cy="45720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166420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需求解析智能体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08760" y="19659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A78BFA"/>
                </a:solidFill>
                <a:latin typeface="Microsoft YaHei"/>
              </a:defRPr>
            </a:pPr>
            <a:r>
              <a:t>Role: demand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学习目标拆解 / 知识清单 / 推荐路径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0559" y="1463040"/>
            <a:ext cx="347472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645151" y="1536192"/>
            <a:ext cx="82296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81727" y="1664208"/>
            <a:ext cx="457200" cy="45720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81727" y="166420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57799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文档生成智能体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799" y="19659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0A5FA"/>
                </a:solidFill>
                <a:latin typeface="Microsoft YaHei"/>
              </a:defRPr>
            </a:pPr>
            <a:r>
              <a:t>Role: 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00599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结构化文档 / 学习笔记 / 知识详解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598" y="1463040"/>
            <a:ext cx="347472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394190" y="1536192"/>
            <a:ext cx="82296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430766" y="1664208"/>
            <a:ext cx="457200" cy="45720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430766" y="166420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06838" y="17190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思维导图智能体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06838" y="196596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7E8F9"/>
                </a:solidFill>
                <a:latin typeface="Microsoft YaHei"/>
              </a:defRPr>
            </a:pPr>
            <a:r>
              <a:t>Role: mind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49638" y="237744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知识体系 / 关联可视化 / 复习提纲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4023360"/>
            <a:ext cx="347472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96112" y="4096512"/>
            <a:ext cx="822960" cy="38100"/>
          </a:xfrm>
          <a:prstGeom prst="rect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932688" y="4224528"/>
            <a:ext cx="457200" cy="457200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32688" y="42245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508760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题库生成智能体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08760" y="45262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DBF6E"/>
                </a:solidFill>
                <a:latin typeface="Microsoft YaHei"/>
              </a:defRPr>
            </a:pPr>
            <a:r>
              <a:t>Role: question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多难度练习 / 选择填空 / 解析评分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480559" y="4023360"/>
            <a:ext cx="347472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4645151" y="4096512"/>
            <a:ext cx="822960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4681727" y="4224528"/>
            <a:ext cx="457200" cy="45720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681727" y="42245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257799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实操案例智能体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257799" y="45262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6EE7B7"/>
                </a:solidFill>
                <a:latin typeface="Microsoft YaHei"/>
              </a:defRPr>
            </a:pPr>
            <a:r>
              <a:t>Role: case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800599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代码实战 / 项目拆解 / 调试排错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8229598" y="4023360"/>
            <a:ext cx="347472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8394190" y="4096512"/>
            <a:ext cx="822960" cy="381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8430766" y="4224528"/>
            <a:ext cx="457200" cy="457200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430766" y="4224528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006838" y="427939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多模态智能体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006838" y="4526280"/>
            <a:ext cx="22860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9A8D4"/>
                </a:solidFill>
                <a:latin typeface="Microsoft YaHei"/>
              </a:defRPr>
            </a:pPr>
            <a:r>
              <a:t>Role: multimodal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49638" y="4937760"/>
            <a:ext cx="28346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视频脚本 / 音频讲解 / 动画文案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6 / 16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资源生成流程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ASYNCHRONOUS GENERATION PIPELINE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2011680" cy="237744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1828800"/>
            <a:ext cx="502920" cy="5029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选择智能体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2834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从6大智能体中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30906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选择目标角色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7744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78BFA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1645920"/>
            <a:ext cx="2011680" cy="237744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383280" y="1828800"/>
            <a:ext cx="502920" cy="5029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8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34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输入主题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34640" y="2834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填写学习主题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30906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难度与参数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0A5FA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0" y="1645920"/>
            <a:ext cx="2011680" cy="237744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5669280" y="1828800"/>
            <a:ext cx="502920" cy="50292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20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异步生成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20640" y="2834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后端异步调用AI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20640" y="30906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实时进度轮询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4944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7E8F9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0" y="1645920"/>
            <a:ext cx="2011680" cy="237744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7955280" y="1828800"/>
            <a:ext cx="502920" cy="50292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95528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质量校验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06640" y="2834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AI内容格式校验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406640" y="30906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自动修复兼容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235440" y="24688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EE7B7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601200" y="1645920"/>
            <a:ext cx="2011680" cy="237744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241280" y="1828800"/>
            <a:ext cx="502920" cy="502920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241280" y="1828800"/>
            <a:ext cx="5029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425"/>
              </a:spcBef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92640" y="2468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资源入库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692640" y="28346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结果持久化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692640" y="309067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关联学习路径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31520" y="4389120"/>
            <a:ext cx="10515600" cy="18288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97280" y="45262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Microsoft YaHei"/>
              </a:defRPr>
            </a:pPr>
            <a:r>
              <a:t>核心技术要点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7280" y="489204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策略模式: AgentStrategyFactory 自动发现 + 按 role 分发，新增智能体零改动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97280" y="516636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异步解耦: ResourceAsyncExecutor 独立 Bean，解决 Spring @Async 自调用失效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97280" y="544068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Prompt 工程化: 每个智能体独立 Prompt 模板，存储在数据库支持动态配置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" y="5715000"/>
            <a:ext cx="9601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进度轮询: 前端 2s 间隔轮询，实时展示 0-100% 生成进度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7 / 16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模块三：个性化学习路径规划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DYNAMIC LEARNING PATH PLANNING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486400" cy="48463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EE7B7"/>
                </a:solidFill>
                <a:latin typeface="Microsoft YaHei"/>
              </a:defRPr>
            </a:pPr>
            <a:r>
              <a:t>AI 智能路径生成</a:t>
            </a:r>
          </a:p>
        </p:txBody>
      </p:sp>
      <p:sp>
        <p:nvSpPr>
          <p:cNvPr id="13" name="Oval 12"/>
          <p:cNvSpPr/>
          <p:nvPr/>
        </p:nvSpPr>
        <p:spPr>
          <a:xfrm>
            <a:off x="1280160" y="2331720"/>
            <a:ext cx="201168" cy="201168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353312" y="2532888"/>
            <a:ext cx="1905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2286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基础语法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91640" y="2542032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变量、数据类型、控制流</a:t>
            </a:r>
          </a:p>
        </p:txBody>
      </p:sp>
      <p:sp>
        <p:nvSpPr>
          <p:cNvPr id="17" name="Oval 16"/>
          <p:cNvSpPr/>
          <p:nvPr/>
        </p:nvSpPr>
        <p:spPr>
          <a:xfrm>
            <a:off x="1280160" y="3081528"/>
            <a:ext cx="201168" cy="20116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353312" y="3282696"/>
            <a:ext cx="1905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691640" y="303580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框架入门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91640" y="3291840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Spring Boot 核心概念</a:t>
            </a:r>
          </a:p>
        </p:txBody>
      </p:sp>
      <p:sp>
        <p:nvSpPr>
          <p:cNvPr id="21" name="Oval 20"/>
          <p:cNvSpPr/>
          <p:nvPr/>
        </p:nvSpPr>
        <p:spPr>
          <a:xfrm>
            <a:off x="1280160" y="3831336"/>
            <a:ext cx="201168" cy="20116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353312" y="4032504"/>
            <a:ext cx="1905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378561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691640" y="4041648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MySQL + MyBatis-Plus</a:t>
            </a:r>
          </a:p>
        </p:txBody>
      </p:sp>
      <p:sp>
        <p:nvSpPr>
          <p:cNvPr id="25" name="Oval 24"/>
          <p:cNvSpPr/>
          <p:nvPr/>
        </p:nvSpPr>
        <p:spPr>
          <a:xfrm>
            <a:off x="1280160" y="4581144"/>
            <a:ext cx="201168" cy="201168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353312" y="4782312"/>
            <a:ext cx="19050" cy="530352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91640" y="453542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项目实战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691640" y="4791456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完整项目开发与部署</a:t>
            </a:r>
          </a:p>
        </p:txBody>
      </p:sp>
      <p:sp>
        <p:nvSpPr>
          <p:cNvPr id="29" name="Oval 28"/>
          <p:cNvSpPr/>
          <p:nvPr/>
        </p:nvSpPr>
        <p:spPr>
          <a:xfrm>
            <a:off x="1280160" y="5330952"/>
            <a:ext cx="201168" cy="201168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691640" y="52852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知识测验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91640" y="5541264"/>
            <a:ext cx="3200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综合测验与评估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1463040"/>
            <a:ext cx="4846320" cy="48463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949440" y="164592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DBF6E"/>
                </a:solidFill>
                <a:latin typeface="Microsoft YaHei"/>
              </a:defRPr>
            </a:pPr>
            <a:r>
              <a:t>5 种动态调整方式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858000" y="2286000"/>
            <a:ext cx="4206240" cy="62179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931152" y="2359152"/>
            <a:ext cx="3657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237744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A78BFA"/>
                </a:solidFill>
                <a:latin typeface="Microsoft YaHei"/>
              </a:defRPr>
            </a:pPr>
            <a:r>
              <a:t>延长周期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23774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学习节奏太快，需要更多时间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858000" y="3063240"/>
            <a:ext cx="4206240" cy="62179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6931152" y="3136392"/>
            <a:ext cx="36576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315468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0A5FA"/>
                </a:solidFill>
                <a:latin typeface="Microsoft YaHei"/>
              </a:defRPr>
            </a:pPr>
            <a:r>
              <a:t>压缩周期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31546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学习进度超前，加快节奏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858000" y="3840480"/>
            <a:ext cx="4206240" cy="62179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931152" y="3913632"/>
            <a:ext cx="36576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393192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7E8F9"/>
                </a:solidFill>
                <a:latin typeface="Microsoft YaHei"/>
              </a:defRPr>
            </a:pPr>
            <a:r>
              <a:t>调整顺序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41248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拖拽调整学习内容先后顺序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6858000" y="4617720"/>
            <a:ext cx="4206240" cy="62179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931152" y="4690872"/>
            <a:ext cx="365760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040880" y="470916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6EE7B7"/>
                </a:solidFill>
                <a:latin typeface="Microsoft YaHei"/>
              </a:defRPr>
            </a:pPr>
            <a:r>
              <a:t>新增内容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412480" y="47091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补充额外知识点到路径中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858000" y="5394960"/>
            <a:ext cx="4206240" cy="621792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6931152" y="5468112"/>
            <a:ext cx="365760" cy="381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040880" y="5486400"/>
            <a:ext cx="11887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9A8D4"/>
                </a:solidFill>
                <a:latin typeface="Microsoft YaHei"/>
              </a:defRPr>
            </a:pPr>
            <a:r>
              <a:t>简化内容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412480" y="54864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移除已掌握的学习步骤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8 / 16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模块四：智能辅导答疑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AI-POWERED INTELLIGENT TUTORING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10515600" cy="484632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88720" y="16459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DBF6E"/>
                </a:solidFill>
                <a:latin typeface="Microsoft YaHei"/>
              </a:defRPr>
            </a:pPr>
            <a:r>
              <a:t>多模态 AI 答疑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828800" y="2286000"/>
            <a:ext cx="4754880" cy="502920"/>
          </a:xfrm>
          <a:prstGeom prst="roundRect">
            <a:avLst/>
          </a:prstGeom>
          <a:solidFill>
            <a:srgbClr val="E8F4FD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38528" y="2395728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我: 什么是 Spring Boot 的自动配置原理？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2944368"/>
            <a:ext cx="4754880" cy="5029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481328" y="3054096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Spring Boot 自动配置基于 @EnableAutoConfiguration...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28800" y="3602736"/>
            <a:ext cx="4754880" cy="502920"/>
          </a:xfrm>
          <a:prstGeom prst="roundRect">
            <a:avLst/>
          </a:prstGeom>
          <a:solidFill>
            <a:srgbClr val="E8F4FD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938528" y="3712464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我: 能举个具体的例子吗？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4261104"/>
            <a:ext cx="4754880" cy="5029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81328" y="437083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AI: 当然！以 DataSourceAutoConfiguration 为例...</a:t>
            </a:r>
          </a:p>
        </p:txBody>
      </p:sp>
      <p:sp>
        <p:nvSpPr>
          <p:cNvPr id="21" name="Oval 20"/>
          <p:cNvSpPr/>
          <p:nvPr/>
        </p:nvSpPr>
        <p:spPr>
          <a:xfrm>
            <a:off x="7132320" y="2331720"/>
            <a:ext cx="146304" cy="146304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06640" y="228600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文字提问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254203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输入问题获取详细解答</a:t>
            </a:r>
          </a:p>
        </p:txBody>
      </p:sp>
      <p:sp>
        <p:nvSpPr>
          <p:cNvPr id="24" name="Oval 23"/>
          <p:cNvSpPr/>
          <p:nvPr/>
        </p:nvSpPr>
        <p:spPr>
          <a:xfrm>
            <a:off x="7132320" y="2971800"/>
            <a:ext cx="146304" cy="146304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06640" y="29260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图片识别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18211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支持截图/拍照识别题目</a:t>
            </a:r>
          </a:p>
        </p:txBody>
      </p:sp>
      <p:sp>
        <p:nvSpPr>
          <p:cNvPr id="27" name="Oval 26"/>
          <p:cNvSpPr/>
          <p:nvPr/>
        </p:nvSpPr>
        <p:spPr>
          <a:xfrm>
            <a:off x="7132320" y="3611880"/>
            <a:ext cx="146304" cy="146304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0" y="356616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逐字显示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06640" y="382219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打字机效果流式输出</a:t>
            </a:r>
          </a:p>
        </p:txBody>
      </p:sp>
      <p:sp>
        <p:nvSpPr>
          <p:cNvPr id="30" name="Oval 29"/>
          <p:cNvSpPr/>
          <p:nvPr/>
        </p:nvSpPr>
        <p:spPr>
          <a:xfrm>
            <a:off x="7132320" y="4251960"/>
            <a:ext cx="146304" cy="146304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06640" y="42062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历史记录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406640" y="446227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保存所有答疑历史</a:t>
            </a:r>
          </a:p>
        </p:txBody>
      </p:sp>
      <p:sp>
        <p:nvSpPr>
          <p:cNvPr id="33" name="Oval 32"/>
          <p:cNvSpPr/>
          <p:nvPr/>
        </p:nvSpPr>
        <p:spPr>
          <a:xfrm>
            <a:off x="7132320" y="4892040"/>
            <a:ext cx="146304" cy="146304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406640" y="484632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多轮对话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406640" y="5102352"/>
            <a:ext cx="2743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支持追问和深入探讨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9 / 16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模块五：学习效果评估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MULTI-DIMENSIONAL LEARNING ASSESSMENT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3474720" cy="475488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96112" y="1536192"/>
            <a:ext cx="8229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78BFA"/>
                </a:solidFill>
                <a:latin typeface="Microsoft YaHei"/>
              </a:defRPr>
            </a:pPr>
            <a:r>
              <a:t>AI 评估报告</a:t>
            </a:r>
          </a:p>
        </p:txBody>
      </p:sp>
      <p:sp>
        <p:nvSpPr>
          <p:cNvPr id="14" name="Oval 13"/>
          <p:cNvSpPr/>
          <p:nvPr/>
        </p:nvSpPr>
        <p:spPr>
          <a:xfrm>
            <a:off x="1097280" y="2340864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根据学习行为数据生成</a:t>
            </a:r>
          </a:p>
        </p:txBody>
      </p:sp>
      <p:sp>
        <p:nvSpPr>
          <p:cNvPr id="16" name="Oval 15"/>
          <p:cNvSpPr/>
          <p:nvPr/>
        </p:nvSpPr>
        <p:spPr>
          <a:xfrm>
            <a:off x="1097280" y="3054096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29992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多维度评估分析</a:t>
            </a:r>
          </a:p>
        </p:txBody>
      </p:sp>
      <p:sp>
        <p:nvSpPr>
          <p:cNvPr id="18" name="Oval 17"/>
          <p:cNvSpPr/>
          <p:nvPr/>
        </p:nvSpPr>
        <p:spPr>
          <a:xfrm>
            <a:off x="1097280" y="3767328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89888" y="37124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知识点掌握度 JSON</a:t>
            </a:r>
          </a:p>
        </p:txBody>
      </p:sp>
      <p:sp>
        <p:nvSpPr>
          <p:cNvPr id="20" name="Oval 19"/>
          <p:cNvSpPr/>
          <p:nvPr/>
        </p:nvSpPr>
        <p:spPr>
          <a:xfrm>
            <a:off x="1097280" y="4480560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389888" y="44256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薄弱点精准识别</a:t>
            </a:r>
          </a:p>
        </p:txBody>
      </p:sp>
      <p:sp>
        <p:nvSpPr>
          <p:cNvPr id="22" name="Oval 21"/>
          <p:cNvSpPr/>
          <p:nvPr/>
        </p:nvSpPr>
        <p:spPr>
          <a:xfrm>
            <a:off x="1097280" y="5193792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389888" y="5138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个性化提升建议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59" y="1463040"/>
            <a:ext cx="3474720" cy="475488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45151" y="1536192"/>
            <a:ext cx="82296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800599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0A5FA"/>
                </a:solidFill>
                <a:latin typeface="Microsoft YaHei"/>
              </a:defRPr>
            </a:pPr>
            <a:r>
              <a:t>数据统计</a:t>
            </a:r>
          </a:p>
        </p:txBody>
      </p:sp>
      <p:sp>
        <p:nvSpPr>
          <p:cNvPr id="27" name="Oval 26"/>
          <p:cNvSpPr/>
          <p:nvPr/>
        </p:nvSpPr>
        <p:spPr>
          <a:xfrm>
            <a:off x="4846319" y="2340864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138927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总学习时长统计</a:t>
            </a:r>
          </a:p>
        </p:txBody>
      </p:sp>
      <p:sp>
        <p:nvSpPr>
          <p:cNvPr id="29" name="Oval 28"/>
          <p:cNvSpPr/>
          <p:nvPr/>
        </p:nvSpPr>
        <p:spPr>
          <a:xfrm>
            <a:off x="4846319" y="3054096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138927" y="29992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答题正确率趋势</a:t>
            </a:r>
          </a:p>
        </p:txBody>
      </p:sp>
      <p:sp>
        <p:nvSpPr>
          <p:cNvPr id="31" name="Oval 30"/>
          <p:cNvSpPr/>
          <p:nvPr/>
        </p:nvSpPr>
        <p:spPr>
          <a:xfrm>
            <a:off x="4846319" y="3767328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38927" y="37124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每日学习数据</a:t>
            </a:r>
          </a:p>
        </p:txBody>
      </p:sp>
      <p:sp>
        <p:nvSpPr>
          <p:cNvPr id="33" name="Oval 32"/>
          <p:cNvSpPr/>
          <p:nvPr/>
        </p:nvSpPr>
        <p:spPr>
          <a:xfrm>
            <a:off x="4846319" y="4480560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138927" y="44256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资源类型分布</a:t>
            </a:r>
          </a:p>
        </p:txBody>
      </p:sp>
      <p:sp>
        <p:nvSpPr>
          <p:cNvPr id="35" name="Oval 34"/>
          <p:cNvSpPr/>
          <p:nvPr/>
        </p:nvSpPr>
        <p:spPr>
          <a:xfrm>
            <a:off x="4846319" y="5193792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138927" y="5138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各学科进度对比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598" y="1463040"/>
            <a:ext cx="3474720" cy="475488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394190" y="1536192"/>
            <a:ext cx="82296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38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7E8F9"/>
                </a:solidFill>
                <a:latin typeface="Microsoft YaHei"/>
              </a:defRPr>
            </a:pPr>
            <a:r>
              <a:t>能力雷达</a:t>
            </a:r>
          </a:p>
        </p:txBody>
      </p:sp>
      <p:sp>
        <p:nvSpPr>
          <p:cNvPr id="40" name="Oval 39"/>
          <p:cNvSpPr/>
          <p:nvPr/>
        </p:nvSpPr>
        <p:spPr>
          <a:xfrm>
            <a:off x="8595358" y="2340864"/>
            <a:ext cx="128016" cy="12801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887966" y="228600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知识掌握度评估</a:t>
            </a:r>
          </a:p>
        </p:txBody>
      </p:sp>
      <p:sp>
        <p:nvSpPr>
          <p:cNvPr id="42" name="Oval 41"/>
          <p:cNvSpPr/>
          <p:nvPr/>
        </p:nvSpPr>
        <p:spPr>
          <a:xfrm>
            <a:off x="8595358" y="3054096"/>
            <a:ext cx="128016" cy="12801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887966" y="2999232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技能应用能力</a:t>
            </a:r>
          </a:p>
        </p:txBody>
      </p:sp>
      <p:sp>
        <p:nvSpPr>
          <p:cNvPr id="44" name="Oval 43"/>
          <p:cNvSpPr/>
          <p:nvPr/>
        </p:nvSpPr>
        <p:spPr>
          <a:xfrm>
            <a:off x="8595358" y="3767328"/>
            <a:ext cx="128016" cy="12801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887966" y="3712464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学习进度追踪</a:t>
            </a:r>
          </a:p>
        </p:txBody>
      </p:sp>
      <p:sp>
        <p:nvSpPr>
          <p:cNvPr id="46" name="Oval 45"/>
          <p:cNvSpPr/>
          <p:nvPr/>
        </p:nvSpPr>
        <p:spPr>
          <a:xfrm>
            <a:off x="8595358" y="4480560"/>
            <a:ext cx="128016" cy="12801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887966" y="4425696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练习准确率分析</a:t>
            </a:r>
          </a:p>
        </p:txBody>
      </p:sp>
      <p:sp>
        <p:nvSpPr>
          <p:cNvPr id="48" name="Oval 47"/>
          <p:cNvSpPr/>
          <p:nvPr/>
        </p:nvSpPr>
        <p:spPr>
          <a:xfrm>
            <a:off x="8595358" y="5193792"/>
            <a:ext cx="128016" cy="128016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8887966" y="51389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75569"/>
                </a:solidFill>
                <a:latin typeface="Microsoft YaHei"/>
              </a:defRPr>
            </a:pPr>
            <a:r>
              <a:t>学习一致性评分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10 / 16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TECHNICAL ARCHITECTURE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10515600" cy="150876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4672" y="1536192"/>
            <a:ext cx="64008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64592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78BFA"/>
                </a:solidFill>
                <a:latin typeface="Microsoft YaHei"/>
              </a:defRPr>
            </a:pPr>
            <a:r>
              <a:t>前端层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94560" y="166420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Vue 3 + Vite + Element Plus + Pinia + Vue Router + Axios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205740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1762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登录注册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40" y="205740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06040" y="21762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画像构建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97680" y="205740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297680" y="21762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资源生成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05740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21762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路径规划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80960" y="205740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80960" y="21762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372600" y="205740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72600" y="217627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效果评估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31520" y="3200400"/>
            <a:ext cx="10515600" cy="150876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04672" y="3273552"/>
            <a:ext cx="64008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338328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0A5FA"/>
                </a:solidFill>
                <a:latin typeface="Microsoft YaHei"/>
              </a:defRPr>
            </a:pPr>
            <a:r>
              <a:t>后端层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94560" y="340156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Spring Boot 3 + Spring AI + MyBatis-Plus + JWT + Redis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914400" y="379476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14400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用户模块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606040" y="379476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606040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画像模块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97680" y="379476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97680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资源模块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989320" y="379476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989320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路径模块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680960" y="379476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680960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辅导模块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372600" y="379476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9372600" y="391363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评估模块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731520" y="4937760"/>
            <a:ext cx="10515600" cy="150876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804672" y="5010912"/>
            <a:ext cx="64008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914400" y="5120640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67E8F9"/>
                </a:solidFill>
                <a:latin typeface="Microsoft YaHei"/>
              </a:defRPr>
            </a:pPr>
            <a:r>
              <a:t>数据层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194560" y="5138928"/>
            <a:ext cx="8229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MySQL 8.0 + Redis 6.0 + 14张业务表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914400" y="553212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565099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用户表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2606040" y="553212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606040" y="565099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画像表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297680" y="553212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297680" y="565099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资源表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989320" y="553212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565099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路径表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680960" y="553212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7680960" y="565099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行为表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372600" y="5532120"/>
            <a:ext cx="1508760" cy="64008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600" y="5650992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评估表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11 / 16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技术栈详情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TECHNOLOGY STACK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371600"/>
            <a:ext cx="5303520" cy="48463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0A5FA"/>
                </a:solidFill>
                <a:latin typeface="Microsoft YaHei"/>
              </a:defRPr>
            </a:pPr>
            <a:r>
              <a:t>后端技术栈</a:t>
            </a:r>
          </a:p>
        </p:txBody>
      </p:sp>
      <p:sp>
        <p:nvSpPr>
          <p:cNvPr id="13" name="Oval 12"/>
          <p:cNvSpPr/>
          <p:nvPr/>
        </p:nvSpPr>
        <p:spPr>
          <a:xfrm>
            <a:off x="1234440" y="2075688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508760" y="20116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Spring Boot 3.3.5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2011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应用框架</a:t>
            </a:r>
          </a:p>
        </p:txBody>
      </p:sp>
      <p:sp>
        <p:nvSpPr>
          <p:cNvPr id="16" name="Oval 15"/>
          <p:cNvSpPr/>
          <p:nvPr/>
        </p:nvSpPr>
        <p:spPr>
          <a:xfrm>
            <a:off x="1234440" y="2606040"/>
            <a:ext cx="118872" cy="11887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508760" y="25420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Java 17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编程语言</a:t>
            </a:r>
          </a:p>
        </p:txBody>
      </p:sp>
      <p:sp>
        <p:nvSpPr>
          <p:cNvPr id="19" name="Oval 18"/>
          <p:cNvSpPr/>
          <p:nvPr/>
        </p:nvSpPr>
        <p:spPr>
          <a:xfrm>
            <a:off x="1234440" y="3136392"/>
            <a:ext cx="118872" cy="1188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08760" y="307238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Spring AI 1.0.0-M6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30723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AI 框架</a:t>
            </a:r>
          </a:p>
        </p:txBody>
      </p:sp>
      <p:sp>
        <p:nvSpPr>
          <p:cNvPr id="22" name="Oval 21"/>
          <p:cNvSpPr/>
          <p:nvPr/>
        </p:nvSpPr>
        <p:spPr>
          <a:xfrm>
            <a:off x="1234440" y="3666744"/>
            <a:ext cx="118872" cy="118872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508760" y="360273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MyBatis-Plus 3.5.11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840480" y="36027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ORM 框架</a:t>
            </a:r>
          </a:p>
        </p:txBody>
      </p:sp>
      <p:sp>
        <p:nvSpPr>
          <p:cNvPr id="25" name="Oval 24"/>
          <p:cNvSpPr/>
          <p:nvPr/>
        </p:nvSpPr>
        <p:spPr>
          <a:xfrm>
            <a:off x="1234440" y="4197096"/>
            <a:ext cx="118872" cy="118872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508760" y="4133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MySQL 8.0+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40480" y="4133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数据库</a:t>
            </a:r>
          </a:p>
        </p:txBody>
      </p:sp>
      <p:sp>
        <p:nvSpPr>
          <p:cNvPr id="28" name="Oval 27"/>
          <p:cNvSpPr/>
          <p:nvPr/>
        </p:nvSpPr>
        <p:spPr>
          <a:xfrm>
            <a:off x="1234440" y="4727448"/>
            <a:ext cx="118872" cy="118872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508760" y="4663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Redis 6.0+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40480" y="4663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缓存</a:t>
            </a:r>
          </a:p>
        </p:txBody>
      </p:sp>
      <p:sp>
        <p:nvSpPr>
          <p:cNvPr id="31" name="Oval 30"/>
          <p:cNvSpPr/>
          <p:nvPr/>
        </p:nvSpPr>
        <p:spPr>
          <a:xfrm>
            <a:off x="1234440" y="5257800"/>
            <a:ext cx="118872" cy="118872"/>
          </a:xfrm>
          <a:prstGeom prst="ellipse">
            <a:avLst/>
          </a:prstGeom>
          <a:solidFill>
            <a:srgbClr val="5E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508760" y="51937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JWT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1937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用户认证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1371600"/>
            <a:ext cx="5029200" cy="48463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766560" y="15087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78BFA"/>
                </a:solidFill>
                <a:latin typeface="Microsoft YaHei"/>
              </a:defRPr>
            </a:pPr>
            <a:r>
              <a:t>前端技术栈</a:t>
            </a:r>
          </a:p>
        </p:txBody>
      </p:sp>
      <p:sp>
        <p:nvSpPr>
          <p:cNvPr id="36" name="Oval 35"/>
          <p:cNvSpPr/>
          <p:nvPr/>
        </p:nvSpPr>
        <p:spPr>
          <a:xfrm>
            <a:off x="6903720" y="2075688"/>
            <a:ext cx="118872" cy="118872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78040" y="201168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09760" y="201168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前端框架</a:t>
            </a:r>
          </a:p>
        </p:txBody>
      </p:sp>
      <p:sp>
        <p:nvSpPr>
          <p:cNvPr id="39" name="Oval 38"/>
          <p:cNvSpPr/>
          <p:nvPr/>
        </p:nvSpPr>
        <p:spPr>
          <a:xfrm>
            <a:off x="6903720" y="2606040"/>
            <a:ext cx="118872" cy="118872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178040" y="254203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Vite 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254203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构建工具</a:t>
            </a:r>
          </a:p>
        </p:txBody>
      </p:sp>
      <p:sp>
        <p:nvSpPr>
          <p:cNvPr id="42" name="Oval 41"/>
          <p:cNvSpPr/>
          <p:nvPr/>
        </p:nvSpPr>
        <p:spPr>
          <a:xfrm>
            <a:off x="6903720" y="3136392"/>
            <a:ext cx="118872" cy="118872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178040" y="3072384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Element Plus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509760" y="3072384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UI 组件库</a:t>
            </a:r>
          </a:p>
        </p:txBody>
      </p:sp>
      <p:sp>
        <p:nvSpPr>
          <p:cNvPr id="45" name="Oval 44"/>
          <p:cNvSpPr/>
          <p:nvPr/>
        </p:nvSpPr>
        <p:spPr>
          <a:xfrm>
            <a:off x="6903720" y="3666744"/>
            <a:ext cx="118872" cy="118872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178040" y="3602736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Pinia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509760" y="360273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状态管理</a:t>
            </a:r>
          </a:p>
        </p:txBody>
      </p:sp>
      <p:sp>
        <p:nvSpPr>
          <p:cNvPr id="48" name="Oval 47"/>
          <p:cNvSpPr/>
          <p:nvPr/>
        </p:nvSpPr>
        <p:spPr>
          <a:xfrm>
            <a:off x="6903720" y="4197096"/>
            <a:ext cx="118872" cy="118872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178040" y="4133088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Vue Router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509760" y="4133088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前端路由</a:t>
            </a:r>
          </a:p>
        </p:txBody>
      </p:sp>
      <p:sp>
        <p:nvSpPr>
          <p:cNvPr id="51" name="Oval 50"/>
          <p:cNvSpPr/>
          <p:nvPr/>
        </p:nvSpPr>
        <p:spPr>
          <a:xfrm>
            <a:off x="6903720" y="4727448"/>
            <a:ext cx="118872" cy="118872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7178040" y="4663440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Axios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509760" y="4663440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HTTP 请求</a:t>
            </a:r>
          </a:p>
        </p:txBody>
      </p:sp>
      <p:sp>
        <p:nvSpPr>
          <p:cNvPr id="54" name="Oval 53"/>
          <p:cNvSpPr/>
          <p:nvPr/>
        </p:nvSpPr>
        <p:spPr>
          <a:xfrm>
            <a:off x="6903720" y="5257800"/>
            <a:ext cx="118872" cy="118872"/>
          </a:xfrm>
          <a:prstGeom prst="ellipse">
            <a:avLst/>
          </a:prstGeom>
          <a:solidFill>
            <a:srgbClr val="5E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178040" y="5193792"/>
            <a:ext cx="2103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E293B"/>
                </a:solidFill>
                <a:latin typeface="Microsoft YaHei"/>
              </a:defRPr>
            </a:pPr>
            <a:r>
              <a:t>Markdown 渲染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509760" y="5193792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富文本展示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12 / 16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数据库设计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DATABASE DESIGN - 14 TABLES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85800" y="1536192"/>
            <a:ext cx="54864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icrosoft YaHei"/>
              </a:defRPr>
            </a:pPr>
            <a:r>
              <a:t>sys_user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用户表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146304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3520440" y="1536192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6616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Microsoft YaHei"/>
              </a:defRPr>
            </a:pPr>
            <a:r>
              <a:t>student_profile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6616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学习画像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146304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55080" y="1536192"/>
            <a:ext cx="54864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7E8F9"/>
                </a:solidFill>
                <a:latin typeface="Microsoft YaHei"/>
              </a:defRPr>
            </a:pPr>
            <a:r>
              <a:t>chat_context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对话上下文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052560" y="146304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189720" y="1536192"/>
            <a:ext cx="548640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35440" y="17373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E7B7"/>
                </a:solidFill>
                <a:latin typeface="Microsoft YaHei"/>
              </a:defRPr>
            </a:pPr>
            <a:r>
              <a:t>ai_agent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35440" y="20574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AI智能体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10896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685800" y="3182112"/>
            <a:ext cx="54864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" y="3383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A78BFA"/>
                </a:solidFill>
                <a:latin typeface="Microsoft YaHei"/>
              </a:defRPr>
            </a:pPr>
            <a:r>
              <a:t>learning_resource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学习资源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3383280" y="310896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3520440" y="3182112"/>
            <a:ext cx="54864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66160" y="3383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0A5FA"/>
                </a:solidFill>
                <a:latin typeface="Microsoft YaHei"/>
              </a:defRPr>
            </a:pPr>
            <a:r>
              <a:t>learning_path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6616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学习路径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217920" y="310896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355080" y="3182112"/>
            <a:ext cx="54864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0" y="3383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7E8F9"/>
                </a:solidFill>
                <a:latin typeface="Microsoft YaHei"/>
              </a:defRPr>
            </a:pPr>
            <a:r>
              <a:t>learning_path_step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路径步骤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052560" y="310896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9189720" y="3182112"/>
            <a:ext cx="548640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235440" y="33832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6EE7B7"/>
                </a:solidFill>
                <a:latin typeface="Microsoft YaHei"/>
              </a:defRPr>
            </a:pPr>
            <a:r>
              <a:t>step_resource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35440" y="37033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步骤资源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48640" y="475488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85800" y="4828032"/>
            <a:ext cx="548640" cy="38100"/>
          </a:xfrm>
          <a:prstGeom prst="rect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029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BF6E"/>
                </a:solidFill>
                <a:latin typeface="Microsoft YaHei"/>
              </a:defRPr>
            </a:pPr>
            <a:r>
              <a:t>learning_behavior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31520" y="5349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学习行为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383280" y="475488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520440" y="4828032"/>
            <a:ext cx="548640" cy="381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566160" y="5029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A8D4"/>
                </a:solidFill>
                <a:latin typeface="Microsoft YaHei"/>
              </a:defRPr>
            </a:pPr>
            <a:r>
              <a:t>question_answer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566160" y="5349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答题记录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6217920" y="475488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6355080" y="4828032"/>
            <a:ext cx="548640" cy="38100"/>
          </a:xfrm>
          <a:prstGeom prst="rect">
            <a:avLst/>
          </a:prstGeom>
          <a:solidFill>
            <a:srgbClr val="5E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0" y="5029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EE8D0"/>
                </a:solidFill>
                <a:latin typeface="Microsoft YaHei"/>
              </a:defRPr>
            </a:pPr>
            <a:r>
              <a:t>video_progress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5349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视频进度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9052560" y="475488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9189720" y="4828032"/>
            <a:ext cx="548640" cy="38100"/>
          </a:xfrm>
          <a:prstGeom prst="rect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235440" y="50292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DBF6E"/>
                </a:solidFill>
                <a:latin typeface="Microsoft YaHei"/>
              </a:defRPr>
            </a:pPr>
            <a:r>
              <a:t>learning_evaluate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9235440" y="534924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学习评估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548640" y="640080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685800" y="6473952"/>
            <a:ext cx="548640" cy="381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31520" y="6675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9A8D4"/>
                </a:solidFill>
                <a:latin typeface="Microsoft YaHei"/>
              </a:defRPr>
            </a:pPr>
            <a:r>
              <a:t>smart_tutor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31520" y="6995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智能辅导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3383280" y="6400800"/>
            <a:ext cx="2606040" cy="1371600"/>
          </a:xfrm>
          <a:prstGeom prst="roundRect">
            <a:avLst/>
          </a:prstGeom>
          <a:solidFill>
            <a:srgbClr val="F8FAFC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520440" y="6473952"/>
            <a:ext cx="548640" cy="38100"/>
          </a:xfrm>
          <a:prstGeom prst="rect">
            <a:avLst/>
          </a:prstGeom>
          <a:solidFill>
            <a:srgbClr val="5EE8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3566160" y="66751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5EE8D0"/>
                </a:solidFill>
                <a:latin typeface="Microsoft YaHei"/>
              </a:defRPr>
            </a:pPr>
            <a:r>
              <a:t>generate_task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3566160" y="699516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  <a:latin typeface="Microsoft YaHei"/>
              </a:defRPr>
            </a:pPr>
            <a:r>
              <a:t>生成任务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13 / 16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创新亮点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INNOVATION HIGHLIGHTS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48640" y="1463040"/>
            <a:ext cx="352044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13232" y="1536192"/>
            <a:ext cx="822960" cy="3810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49808" y="1664208"/>
            <a:ext cx="411480" cy="41148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166420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1719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多智能体策略模式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2240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6个智能体各自独立策略类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新增智能体只需实现接口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符合开闭原则 OCP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43400" y="1463040"/>
            <a:ext cx="352044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07992" y="1536192"/>
            <a:ext cx="822960" cy="381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544568" y="1664208"/>
            <a:ext cx="411480" cy="41148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44568" y="166420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74920" y="1719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对话式画像构建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17720" y="2240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AI多轮对话收集信息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1772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自动抽取结构化字段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1772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替代传统表单填写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138160" y="1463040"/>
            <a:ext cx="352044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8302752" y="1536192"/>
            <a:ext cx="822960" cy="38100"/>
          </a:xfrm>
          <a:prstGeom prst="rect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339328" y="1664208"/>
            <a:ext cx="411480" cy="411480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39328" y="166420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69680" y="171907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异步任务解耦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22402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独立Bean解决@Async失效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25603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前端轮询实时进度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12480" y="288036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零长连接依赖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4023360"/>
            <a:ext cx="352044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713232" y="4096512"/>
            <a:ext cx="822960" cy="38100"/>
          </a:xfrm>
          <a:prstGeom prst="rect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49808" y="4224528"/>
            <a:ext cx="411480" cy="411480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49808" y="422452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80160" y="4279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Prompt 工程化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800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各智能体独立Prompt模板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2960" y="512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数据库存储动态配置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2960" y="5440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结构化输出确保质量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43400" y="4023360"/>
            <a:ext cx="352044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507992" y="4096512"/>
            <a:ext cx="822960" cy="38100"/>
          </a:xfrm>
          <a:prstGeom prst="rect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4544568" y="4224528"/>
            <a:ext cx="411480" cy="411480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44568" y="422452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74920" y="4279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动态路径调整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617720" y="4800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5种调整方式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617720" y="512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AI自动重新规划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17720" y="5440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实时更新倒计时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8138160" y="4023360"/>
            <a:ext cx="3520440" cy="228600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8302752" y="4096512"/>
            <a:ext cx="822960" cy="38100"/>
          </a:xfrm>
          <a:prstGeom prst="rect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8339328" y="4224528"/>
            <a:ext cx="411480" cy="411480"/>
          </a:xfrm>
          <a:prstGeom prst="ellipse">
            <a:avLst/>
          </a:prstGeom>
          <a:solidFill>
            <a:srgbClr val="F9A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339328" y="4224528"/>
            <a:ext cx="411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spcBef>
                <a:spcPts val="375"/>
              </a:spcBef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69680" y="4279392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293B"/>
                </a:solidFill>
                <a:latin typeface="Microsoft YaHei"/>
              </a:defRPr>
            </a:pPr>
            <a:r>
              <a:t>全链路评估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8412480" y="480060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行为+答题+AI分析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412480" y="512064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多维度能力雷达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412480" y="54406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75569"/>
                </a:solidFill>
                <a:latin typeface="Microsoft YaHei"/>
              </a:defRPr>
            </a:pPr>
            <a:r>
              <a:t>自动同步画像更新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14 / 16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35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01200" y="-457200"/>
            <a:ext cx="2286000" cy="22860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0" y="731520"/>
            <a:ext cx="1097280" cy="109728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-731520" y="5029200"/>
            <a:ext cx="1828800" cy="18288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74320" y="5669280"/>
            <a:ext cx="731520" cy="73152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72800" y="4572000"/>
            <a:ext cx="1371600" cy="1371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320040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400" b="1">
                <a:solidFill>
                  <a:srgbClr val="1E293B"/>
                </a:solidFill>
                <a:latin typeface="Microsoft YaHei"/>
              </a:defRPr>
            </a:pPr>
            <a:r>
              <a:t>项目成果与未来规划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86868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  <a:latin typeface="Microsoft YaHei"/>
              </a:defRPr>
            </a:pPr>
            <a:r>
              <a:t>ACHIEVEMENTS &amp; ROADMAP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1234440"/>
            <a:ext cx="1645920" cy="381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31520" y="1463040"/>
            <a:ext cx="5303520" cy="48463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6EE7B7"/>
                </a:solidFill>
                <a:latin typeface="Microsoft YaHei"/>
              </a:defRPr>
            </a:pPr>
            <a:r>
              <a:t>项目成果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A78BFA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核心功能模块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0A5FA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AI 智能体角色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21945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7E8F9"/>
                </a:solidFill>
                <a:latin typeface="Microsoft YaHei"/>
              </a:defRPr>
            </a:pPr>
            <a: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6517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数据库表设计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566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6EE7B7"/>
                </a:solidFill>
                <a:latin typeface="Microsoft YaHei"/>
              </a:defRPr>
            </a:pPr>
            <a:r>
              <a:t>22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前端页面组件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35661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DBF6E"/>
                </a:solidFill>
                <a:latin typeface="Microsoft YaHei"/>
              </a:defRPr>
            </a:pPr>
            <a:r>
              <a:t>19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743200" y="40233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REST API 端点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1463040"/>
            <a:ext cx="5029200" cy="4846320"/>
          </a:xfrm>
          <a:prstGeom prst="roundRect">
            <a:avLst/>
          </a:prstGeom>
          <a:solidFill>
            <a:srgbClr val="EEF6FF"/>
          </a:solidFill>
          <a:ln w="9525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766560" y="1600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A78BFA"/>
                </a:solidFill>
                <a:latin typeface="Microsoft YaHei"/>
              </a:defRPr>
            </a:pPr>
            <a:r>
              <a:t>未来规划</a:t>
            </a:r>
          </a:p>
        </p:txBody>
      </p:sp>
      <p:sp>
        <p:nvSpPr>
          <p:cNvPr id="25" name="Oval 24"/>
          <p:cNvSpPr/>
          <p:nvPr/>
        </p:nvSpPr>
        <p:spPr>
          <a:xfrm>
            <a:off x="6858000" y="2176272"/>
            <a:ext cx="146304" cy="146304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132320" y="210312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SSE 流式输出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132320" y="237744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接入 Server-Sent Events 实现真正流式响应</a:t>
            </a:r>
          </a:p>
        </p:txBody>
      </p:sp>
      <p:sp>
        <p:nvSpPr>
          <p:cNvPr id="28" name="Oval 27"/>
          <p:cNvSpPr/>
          <p:nvPr/>
        </p:nvSpPr>
        <p:spPr>
          <a:xfrm>
            <a:off x="6858000" y="2953512"/>
            <a:ext cx="146304" cy="146304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32320" y="288036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Redis 深度缓存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2320" y="315468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画像、资源、统计数据全面缓存优化</a:t>
            </a:r>
          </a:p>
        </p:txBody>
      </p:sp>
      <p:sp>
        <p:nvSpPr>
          <p:cNvPr id="31" name="Oval 30"/>
          <p:cNvSpPr/>
          <p:nvPr/>
        </p:nvSpPr>
        <p:spPr>
          <a:xfrm>
            <a:off x="6858000" y="3730752"/>
            <a:ext cx="146304" cy="146304"/>
          </a:xfrm>
          <a:prstGeom prst="ellipse">
            <a:avLst/>
          </a:prstGeom>
          <a:solidFill>
            <a:srgbClr val="67E8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132320" y="365760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WebSocket 通知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393192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实时推送通知（新资源、路径建议）</a:t>
            </a:r>
          </a:p>
        </p:txBody>
      </p:sp>
      <p:sp>
        <p:nvSpPr>
          <p:cNvPr id="34" name="Oval 33"/>
          <p:cNvSpPr/>
          <p:nvPr/>
        </p:nvSpPr>
        <p:spPr>
          <a:xfrm>
            <a:off x="6858000" y="4507992"/>
            <a:ext cx="146304" cy="146304"/>
          </a:xfrm>
          <a:prstGeom prst="ellipse">
            <a:avLst/>
          </a:prstGeom>
          <a:solidFill>
            <a:srgbClr val="6EE7B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132320" y="443484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加权评估算法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132320" y="470916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多维度加权评分，更精准的效果评估</a:t>
            </a:r>
          </a:p>
        </p:txBody>
      </p:sp>
      <p:sp>
        <p:nvSpPr>
          <p:cNvPr id="37" name="Oval 36"/>
          <p:cNvSpPr/>
          <p:nvPr/>
        </p:nvSpPr>
        <p:spPr>
          <a:xfrm>
            <a:off x="6858000" y="5285232"/>
            <a:ext cx="146304" cy="146304"/>
          </a:xfrm>
          <a:prstGeom prst="ellipse">
            <a:avLst/>
          </a:prstGeom>
          <a:solidFill>
            <a:srgbClr val="FDBF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132320" y="5212080"/>
            <a:ext cx="3657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293B"/>
                </a:solidFill>
                <a:latin typeface="Microsoft YaHei"/>
              </a:defRPr>
            </a:pPr>
            <a:r>
              <a:t>单元测试覆盖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132320" y="5486400"/>
            <a:ext cx="3931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4A3B8"/>
                </a:solidFill>
                <a:latin typeface="Microsoft YaHei"/>
              </a:defRPr>
            </a:pPr>
            <a:r>
              <a:t>补充 Service/Controller 层测试用例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15 / 16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4F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62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7E8F9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914400"/>
            <a:ext cx="3657600" cy="3657600"/>
          </a:xfrm>
          <a:prstGeom prst="ellipse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0" y="4114800"/>
            <a:ext cx="2286000" cy="2286000"/>
          </a:xfrm>
          <a:prstGeom prst="ellipse">
            <a:avLst/>
          </a:prstGeom>
          <a:solidFill>
            <a:srgbClr val="CCFB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457200" y="5029200"/>
            <a:ext cx="1828800" cy="1828800"/>
          </a:xfrm>
          <a:prstGeom prst="ellipse">
            <a:avLst/>
          </a:prstGeom>
          <a:solidFill>
            <a:srgbClr val="E8E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371600" y="731520"/>
            <a:ext cx="109728" cy="109728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926080" y="1005840"/>
            <a:ext cx="73152" cy="73152"/>
          </a:xfrm>
          <a:prstGeom prst="ellipse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058400" y="2286000"/>
            <a:ext cx="91440" cy="91440"/>
          </a:xfrm>
          <a:prstGeom prst="ellipse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731520" y="4114800"/>
            <a:ext cx="54864" cy="54864"/>
          </a:xfrm>
          <a:prstGeom prst="ellipse">
            <a:avLst/>
          </a:prstGeom>
          <a:solidFill>
            <a:srgbClr val="C4B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55680" y="3474720"/>
            <a:ext cx="82296" cy="82296"/>
          </a:xfrm>
          <a:prstGeom prst="ellipse">
            <a:avLst/>
          </a:prstGeom>
          <a:solidFill>
            <a:srgbClr val="A5F3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0" y="164592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800" b="1">
                <a:solidFill>
                  <a:srgbClr val="1E293B"/>
                </a:solidFill>
                <a:latin typeface="Microsoft YaHei"/>
              </a:defRPr>
            </a:pPr>
            <a:r>
              <a:t>THANK YOU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2651760"/>
            <a:ext cx="2286000" cy="50800"/>
          </a:xfrm>
          <a:prstGeom prst="rect">
            <a:avLst/>
          </a:prstGeom>
          <a:gradFill rotWithShape="1">
            <a:gsLst>
              <a:gs pos="0">
                <a:srgbClr val="A78BFA"/>
              </a:gs>
              <a:gs pos="100000">
                <a:srgbClr val="60A5FA"/>
              </a:gs>
            </a:gsLst>
            <a:lin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0">
                <a:solidFill>
                  <a:srgbClr val="A78BFA"/>
                </a:solidFill>
                <a:latin typeface="Microsoft YaHei"/>
              </a:defRPr>
            </a:pPr>
            <a:r>
              <a:t>MediCraft - AI 智能学习辅助系统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347472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475569"/>
                </a:solidFill>
                <a:latin typeface="Microsoft YaHei"/>
              </a:defRPr>
            </a:pPr>
            <a:r>
              <a:t>基于多智能体协同的个性化学习路径规划与效果评估平台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392527" y="4114800"/>
            <a:ext cx="1371600" cy="320040"/>
          </a:xfrm>
          <a:prstGeom prst="roundRect">
            <a:avLst/>
          </a:prstGeom>
          <a:solidFill>
            <a:srgbClr val="E8E0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92527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Spring Boot 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901287" y="4114800"/>
            <a:ext cx="1371600" cy="320040"/>
          </a:xfrm>
          <a:prstGeom prst="roundRect">
            <a:avLst/>
          </a:prstGeom>
          <a:solidFill>
            <a:srgbClr val="E8E0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01287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Vue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10047" y="4114800"/>
            <a:ext cx="1371600" cy="320040"/>
          </a:xfrm>
          <a:prstGeom prst="roundRect">
            <a:avLst/>
          </a:prstGeom>
          <a:solidFill>
            <a:srgbClr val="E8E0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410047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Spring AI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18807" y="4114800"/>
            <a:ext cx="1371600" cy="320040"/>
          </a:xfrm>
          <a:prstGeom prst="roundRect">
            <a:avLst/>
          </a:prstGeom>
          <a:solidFill>
            <a:srgbClr val="E8E0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18807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多智能体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427567" y="4114800"/>
            <a:ext cx="1371600" cy="320040"/>
          </a:xfrm>
          <a:prstGeom prst="roundRect">
            <a:avLst/>
          </a:prstGeom>
          <a:solidFill>
            <a:srgbClr val="E8E0FF"/>
          </a:solidFill>
          <a:ln w="9525">
            <a:solidFill>
              <a:srgbClr val="C4B5F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27567" y="4133087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78BFA"/>
                </a:solidFill>
                <a:latin typeface="Microsoft YaHei"/>
              </a:defRPr>
            </a:pPr>
            <a:r>
              <a:t>个性化学习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0" y="4754880"/>
            <a:ext cx="1219169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2026 年度大学生创新创业项目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72800" y="644652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94A3B8"/>
                </a:solidFill>
                <a:latin typeface="Microsoft YaHei"/>
              </a:defRPr>
            </a:pPr>
            <a:r>
              <a:t>16 / 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