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54880" y="-1371600"/>
            <a:ext cx="4572000" cy="457200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0" y="-274320"/>
            <a:ext cx="3200400" cy="320040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1645920" cy="16459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0" y="914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36576" cy="36576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82880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3200400"/>
            <a:ext cx="27432" cy="27432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13716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3657600"/>
            <a:ext cx="36576" cy="36576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731520"/>
            <a:ext cx="3840480" cy="38404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16459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5A30D"/>
                </a:solidFill>
                <a:latin typeface="Microsoft YaHei"/>
              </a:defRPr>
            </a:pPr>
            <a:r>
              <a:t>MediCraft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94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1A2E28"/>
                </a:solidFill>
                <a:latin typeface="Microsoft YaHei"/>
              </a:defRPr>
            </a:pPr>
            <a:r>
              <a:t>AI 智能学习辅助系统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46120"/>
            <a:ext cx="2286000" cy="4445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20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7A6D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297680"/>
            <a:ext cx="1325880" cy="329184"/>
          </a:xfrm>
          <a:prstGeom prst="roundRect">
            <a:avLst/>
          </a:prstGeom>
          <a:solidFill>
            <a:srgbClr val="DCFCC7"/>
          </a:solidFill>
          <a:ln w="9525">
            <a:solidFill>
              <a:srgbClr val="65A3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5A30D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297680"/>
            <a:ext cx="1325880" cy="329184"/>
          </a:xfrm>
          <a:prstGeom prst="roundRect">
            <a:avLst/>
          </a:prstGeom>
          <a:solidFill>
            <a:srgbClr val="CCF2FC"/>
          </a:solidFill>
          <a:ln w="9525">
            <a:solidFill>
              <a:srgbClr val="0E9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3159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E93B4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297680"/>
            <a:ext cx="1325880" cy="329184"/>
          </a:xfrm>
          <a:prstGeom prst="roundRect">
            <a:avLst/>
          </a:prstGeom>
          <a:solidFill>
            <a:srgbClr val="D8EFE4"/>
          </a:solidFill>
          <a:ln w="9525">
            <a:solidFill>
              <a:srgbClr val="6E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3159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A88D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297680"/>
            <a:ext cx="1325880" cy="329184"/>
          </a:xfrm>
          <a:prstGeom prst="roundRect">
            <a:avLst/>
          </a:prstGeom>
          <a:solidFill>
            <a:srgbClr val="E8E5F8"/>
          </a:solidFill>
          <a:ln w="9525">
            <a:solidFill>
              <a:srgbClr val="8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3159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7EC8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297680"/>
            <a:ext cx="1325880" cy="329184"/>
          </a:xfrm>
          <a:prstGeom prst="roundRect">
            <a:avLst/>
          </a:prstGeom>
          <a:solidFill>
            <a:srgbClr val="FDEBE2"/>
          </a:solidFill>
          <a:ln w="9525">
            <a:solidFill>
              <a:srgbClr val="E8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3159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967A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B0A5"/>
                </a:solidFill>
                <a:latin typeface="Microsoft YaHei"/>
              </a:defRPr>
            </a:pPr>
            <a:r>
              <a:t>MediCraft Development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77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1371600"/>
            <a:ext cx="475488" cy="47548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13716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691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传统教育痛点与AI赋能机遇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993392"/>
            <a:ext cx="8686800" cy="9525"/>
          </a:xfrm>
          <a:prstGeom prst="rect">
            <a:avLst/>
          </a:prstGeom>
          <a:solidFill>
            <a:srgbClr val="E8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2194560"/>
            <a:ext cx="475488" cy="47548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19456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514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全链路AI辅助学习平台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816352"/>
            <a:ext cx="8686800" cy="9525"/>
          </a:xfrm>
          <a:prstGeom prst="rect">
            <a:avLst/>
          </a:prstGeom>
          <a:solidFill>
            <a:srgbClr val="E8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8720" y="3017520"/>
            <a:ext cx="475488" cy="47548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01752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035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337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五大智能模块详解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639312"/>
            <a:ext cx="8686800" cy="9525"/>
          </a:xfrm>
          <a:prstGeom prst="rect">
            <a:avLst/>
          </a:prstGeom>
          <a:solidFill>
            <a:srgbClr val="E8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8720" y="3840480"/>
            <a:ext cx="475488" cy="47548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8404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858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前后端分离+多智能体协同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4462272"/>
            <a:ext cx="8686800" cy="9525"/>
          </a:xfrm>
          <a:prstGeom prst="rect">
            <a:avLst/>
          </a:prstGeom>
          <a:solidFill>
            <a:srgbClr val="E8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88720" y="4663440"/>
            <a:ext cx="475488" cy="47548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466344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983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架构创新与工程实践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5285232"/>
            <a:ext cx="8686800" cy="9525"/>
          </a:xfrm>
          <a:prstGeom prst="rect">
            <a:avLst/>
          </a:prstGeom>
          <a:solidFill>
            <a:srgbClr val="E8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88720" y="5486400"/>
            <a:ext cx="475488" cy="475488"/>
          </a:xfrm>
          <a:prstGeom prst="ellipse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54864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806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成果展示与未来规划</a:t>
            </a:r>
          </a:p>
        </p:txBody>
      </p:sp>
      <p:sp>
        <p:nvSpPr>
          <p:cNvPr id="44" name="Oval 43"/>
          <p:cNvSpPr/>
          <p:nvPr/>
        </p:nvSpPr>
        <p:spPr>
          <a:xfrm>
            <a:off x="9144000" y="1371600"/>
            <a:ext cx="2743200" cy="274320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0" y="2286000"/>
            <a:ext cx="1645920" cy="164592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WHY WE BUILD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" y="1444752"/>
            <a:ext cx="73152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传统教育困境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2249424"/>
            <a:ext cx="118872" cy="118872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学习资源千篇一律，无法满足个性化需求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3026664"/>
            <a:ext cx="118872" cy="118872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学生缺乏科学的学习路径规划指导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3803904"/>
            <a:ext cx="118872" cy="118872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学习效果评估依赖考试，维度单一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581144"/>
            <a:ext cx="118872" cy="118872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师生比失衡，个性化辅导难以实现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65392" y="1444752"/>
            <a:ext cx="73152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4A3E"/>
                </a:solidFill>
                <a:latin typeface="Microsoft YaHei"/>
              </a:defRPr>
            </a:pPr>
            <a:r>
              <a:t>AI 赋能机遇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2249424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大语言模型可实现智能内容生成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3026664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多智能体协同处理复杂教育任务</a:t>
            </a:r>
          </a:p>
        </p:txBody>
      </p:sp>
      <p:sp>
        <p:nvSpPr>
          <p:cNvPr id="33" name="Oval 32"/>
          <p:cNvSpPr/>
          <p:nvPr/>
        </p:nvSpPr>
        <p:spPr>
          <a:xfrm>
            <a:off x="6766560" y="3803904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数据驱动的精准学情分析成为可能</a:t>
            </a:r>
          </a:p>
        </p:txBody>
      </p:sp>
      <p:sp>
        <p:nvSpPr>
          <p:cNvPr id="35" name="Oval 34"/>
          <p:cNvSpPr/>
          <p:nvPr/>
        </p:nvSpPr>
        <p:spPr>
          <a:xfrm>
            <a:off x="6766560" y="4581144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个性化学习路径自动规划与调整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MediCraft - AI SMART LEARNING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6D"/>
                </a:solidFill>
                <a:latin typeface="Microsoft YaHei"/>
              </a:defRPr>
            </a:pPr>
            <a:r>
              <a:t>MediCraft 是一个基于多智能体协同的个性化学习平台，为学生提供从画像构建、资源生成、路径规划到效果评估的全链路 AI 辅助学习体验。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926080"/>
            <a:ext cx="1097280" cy="1097280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9260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98448" y="2432304"/>
            <a:ext cx="36576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3080" y="2514600"/>
            <a:ext cx="384048" cy="38404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3E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6维画像构建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01568" y="4443984"/>
            <a:ext cx="36576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86200" y="4526280"/>
            <a:ext cx="384048" cy="38404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3E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6大AI智能体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47548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04688" y="4809744"/>
            <a:ext cx="36576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89320" y="4892040"/>
            <a:ext cx="384048" cy="38404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48920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349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3E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6235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07807" y="4443984"/>
            <a:ext cx="36576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92439" y="4526280"/>
            <a:ext cx="384048" cy="38404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39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3E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多模态答疑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10928" y="2432304"/>
            <a:ext cx="36576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195560" y="2514600"/>
            <a:ext cx="384048" cy="38404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4A3E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多维度评估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模块一：用户与学习画像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AI-POWERED STUDENT PROFILING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通过多轮 AI 对话，自然收集学生学习特征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377440"/>
            <a:ext cx="4206240" cy="45720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AI: 你好！请告诉我你的专业和年级？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2999232"/>
            <a:ext cx="4206240" cy="45720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0906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用户: 我是计算机科学专业，大三学生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621024"/>
            <a:ext cx="4206240" cy="45720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712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AI: 你的学习目标是什么？希望提升哪些方面？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4242816"/>
            <a:ext cx="4206240" cy="45720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43342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用户: 想系统学习Spring Boot，准备春招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六维学习画像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10312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2157984"/>
            <a:ext cx="36576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知识基础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已有知识水平评估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10312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2157984"/>
            <a:ext cx="36576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认知风格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学习偏好分析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33756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3392424"/>
            <a:ext cx="36576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阶段性目标设定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3756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3392424"/>
            <a:ext cx="36576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易错点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薄弱知识点识别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457200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4626864"/>
            <a:ext cx="36576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学习节奏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学习强度适配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4572000"/>
            <a:ext cx="1965960" cy="100584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0" y="4626864"/>
            <a:ext cx="365760" cy="381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6228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4A3E"/>
                </a:solidFill>
                <a:latin typeface="Microsoft YaHei"/>
              </a:defRPr>
            </a:pPr>
            <a:r>
              <a:t>资源偏好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内容形式偏好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模块二：AI 多智能体资源生成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MULTI-AGENT RESOURCE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426464"/>
            <a:ext cx="73152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1554480"/>
            <a:ext cx="420624" cy="420624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需求解析智能体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A30D"/>
                </a:solidFill>
                <a:latin typeface="Microsoft YaHei"/>
              </a:defRPr>
            </a:pPr>
            <a:r>
              <a:t>Role: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学习目标拆解 / 知识清单 / 推荐路径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19" y="1426464"/>
            <a:ext cx="73152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5151" y="1554480"/>
            <a:ext cx="420624" cy="420624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1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文档生成智能体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1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E93B4"/>
                </a:solidFill>
                <a:latin typeface="Microsoft YaHei"/>
              </a:defRPr>
            </a:pPr>
            <a:r>
              <a:t>Role: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结构化文档 / 学习笔记 / 知识详解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8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58" y="1426464"/>
            <a:ext cx="73152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0" y="1554480"/>
            <a:ext cx="420624" cy="420624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0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思维导图智能体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A88D"/>
                </a:solidFill>
                <a:latin typeface="Microsoft YaHei"/>
              </a:defRPr>
            </a:pPr>
            <a:r>
              <a:t>Role: mind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知识体系 / 关联可视化 / 复习提纲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3986784"/>
            <a:ext cx="73152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6112" y="4114800"/>
            <a:ext cx="420624" cy="420624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题库生成智能体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967A"/>
                </a:solidFill>
                <a:latin typeface="Microsoft YaHei"/>
              </a:defRPr>
            </a:pPr>
            <a:r>
              <a:t>Role: question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多难度练习 / 选择填空 / 解析评分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17719" y="3986784"/>
            <a:ext cx="73152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45151" y="4114800"/>
            <a:ext cx="420624" cy="420624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1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3791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实操案例智能体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3791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EC8"/>
                </a:solidFill>
                <a:latin typeface="Microsoft YaHei"/>
              </a:defRPr>
            </a:pPr>
            <a:r>
              <a:t>Role: 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代码实战 / 项目拆解 / 调试排错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598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66758" y="3986784"/>
            <a:ext cx="731520" cy="381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94190" y="4114800"/>
            <a:ext cx="420624" cy="420624"/>
          </a:xfrm>
          <a:prstGeom prst="ellipse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0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4283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多模态智能体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4283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A0D0"/>
                </a:solidFill>
                <a:latin typeface="Microsoft YaHei"/>
              </a:defRPr>
            </a:pPr>
            <a:r>
              <a:t>Role: multimodal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8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视频脚本 / 音频讲解 / 动画文案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资源生成流程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ASYNCHRONOUS GENERATION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1627632"/>
            <a:ext cx="475488" cy="47548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选择智能体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从6大智能体中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选择目标角色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5A30D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83280" y="1627632"/>
            <a:ext cx="475488" cy="47548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输入主题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填写学习主题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难度与参数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93B4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0" y="1627632"/>
            <a:ext cx="475488" cy="47548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异步生成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后端异步调用AI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实时进度轮询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EA88D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80" y="1627632"/>
            <a:ext cx="475488" cy="47548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质量校验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AI内容格式校验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自动修复兼容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7EC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41280" y="1627632"/>
            <a:ext cx="475488" cy="47548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资源入库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结果持久化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4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关联学习路径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114800"/>
            <a:ext cx="105156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5A30D"/>
                </a:solidFill>
                <a:latin typeface="Microsoft YaHei"/>
              </a:defRPr>
            </a:pPr>
            <a:r>
              <a:t>核心技术要点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6177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策略模式: AgentStrategyFactory 自动发现 + 按 role 分发，新增智能体零改动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48737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异步解耦: ResourceAsyncExecutor 独立 Bean，解决 Spring @Async 自调用失效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12978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Prompt 工程化: 每个智能体独立 Prompt 模板，存储在数据库支持动态配置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538581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进度轮询: 前端 2s 间隔轮询，实时展示 0-100% 生成进度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模块三：个性化学习路径规划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DYNAMIC LEARNING PATH PLANNING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AI 智能路径生成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2231136"/>
            <a:ext cx="182880" cy="182880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98448" y="2414016"/>
            <a:ext cx="15240" cy="530352"/>
          </a:xfrm>
          <a:prstGeom prst="rect">
            <a:avLst/>
          </a:prstGeom>
          <a:solidFill>
            <a:srgbClr val="D4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基础语法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423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变量、数据类型、控制流</a:t>
            </a:r>
          </a:p>
        </p:txBody>
      </p:sp>
      <p:sp>
        <p:nvSpPr>
          <p:cNvPr id="21" name="Oval 20"/>
          <p:cNvSpPr/>
          <p:nvPr/>
        </p:nvSpPr>
        <p:spPr>
          <a:xfrm>
            <a:off x="1234440" y="2962656"/>
            <a:ext cx="182880" cy="182880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98448" y="3145536"/>
            <a:ext cx="15240" cy="530352"/>
          </a:xfrm>
          <a:prstGeom prst="rect">
            <a:avLst/>
          </a:prstGeom>
          <a:solidFill>
            <a:srgbClr val="D4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2926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框架入门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154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Spring Boot 核心概念</a:t>
            </a:r>
          </a:p>
        </p:txBody>
      </p:sp>
      <p:sp>
        <p:nvSpPr>
          <p:cNvPr id="25" name="Oval 24"/>
          <p:cNvSpPr/>
          <p:nvPr/>
        </p:nvSpPr>
        <p:spPr>
          <a:xfrm>
            <a:off x="1234440" y="3694176"/>
            <a:ext cx="182880" cy="182880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98448" y="3877056"/>
            <a:ext cx="15240" cy="530352"/>
          </a:xfrm>
          <a:prstGeom prst="rect">
            <a:avLst/>
          </a:prstGeom>
          <a:solidFill>
            <a:srgbClr val="D4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886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MySQL + MyBatis-Plus</a:t>
            </a:r>
          </a:p>
        </p:txBody>
      </p:sp>
      <p:sp>
        <p:nvSpPr>
          <p:cNvPr id="29" name="Oval 28"/>
          <p:cNvSpPr/>
          <p:nvPr/>
        </p:nvSpPr>
        <p:spPr>
          <a:xfrm>
            <a:off x="1234440" y="4425696"/>
            <a:ext cx="182880" cy="182880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608576"/>
            <a:ext cx="15240" cy="530352"/>
          </a:xfrm>
          <a:prstGeom prst="rect">
            <a:avLst/>
          </a:prstGeom>
          <a:solidFill>
            <a:srgbClr val="D4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4389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项目实战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617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完整项目开发与部署</a:t>
            </a:r>
          </a:p>
        </p:txBody>
      </p:sp>
      <p:sp>
        <p:nvSpPr>
          <p:cNvPr id="33" name="Oval 32"/>
          <p:cNvSpPr/>
          <p:nvPr/>
        </p:nvSpPr>
        <p:spPr>
          <a:xfrm>
            <a:off x="1234440" y="5157216"/>
            <a:ext cx="182880" cy="182880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120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知识测验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349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综合测验与评估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67A"/>
                </a:solidFill>
                <a:latin typeface="Microsoft YaHei"/>
              </a:defRPr>
            </a:pPr>
            <a:r>
              <a:t>5 种动态调整方式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2194560"/>
            <a:ext cx="4206240" cy="59436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31152" y="2249424"/>
            <a:ext cx="320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2267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5A30D"/>
                </a:solidFill>
                <a:latin typeface="Microsoft YaHei"/>
              </a:defRPr>
            </a:pPr>
            <a:r>
              <a:t>延长周期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学习节奏太快，需要更多时间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2944368"/>
            <a:ext cx="4206240" cy="59436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31152" y="2999232"/>
            <a:ext cx="32004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3017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93B4"/>
                </a:solidFill>
                <a:latin typeface="Microsoft YaHei"/>
              </a:defRPr>
            </a:pPr>
            <a:r>
              <a:t>压缩周期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学习进度超前，加快节奏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3694176"/>
            <a:ext cx="4206240" cy="59436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31152" y="3749040"/>
            <a:ext cx="32004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2592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A88D"/>
                </a:solidFill>
                <a:latin typeface="Microsoft YaHei"/>
              </a:defRPr>
            </a:pPr>
            <a:r>
              <a:t>调整顺序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拖拽调整学习内容先后顺序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4443984"/>
            <a:ext cx="4206240" cy="59436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31152" y="4498848"/>
            <a:ext cx="32004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45171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7EC8"/>
                </a:solidFill>
                <a:latin typeface="Microsoft YaHei"/>
              </a:defRPr>
            </a:pPr>
            <a:r>
              <a:t>新增内容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517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补充额外知识点到路径中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5193792"/>
            <a:ext cx="4206240" cy="59436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31152" y="5248656"/>
            <a:ext cx="32004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2592" y="52669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67A"/>
                </a:solidFill>
                <a:latin typeface="Microsoft YaHei"/>
              </a:defRPr>
            </a:pPr>
            <a:r>
              <a:t>简化内容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266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7A6D"/>
                </a:solidFill>
                <a:latin typeface="Microsoft YaHei"/>
              </a:defRPr>
            </a:pPr>
            <a:r>
              <a:t>移除已掌握的学习步骤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模块四：智能辅导答疑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AI-POWERED INTELLIGENT TUTORING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105156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67A"/>
                </a:solidFill>
                <a:latin typeface="Microsoft YaHei"/>
              </a:defRPr>
            </a:pPr>
            <a:r>
              <a:t>多模态 AI 答疑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194560"/>
            <a:ext cx="4572000" cy="475488"/>
          </a:xfrm>
          <a:prstGeom prst="roundRect">
            <a:avLst/>
          </a:prstGeom>
          <a:solidFill>
            <a:srgbClr val="DCFCC7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我: 什么是 Spring Boot 的自动配置原理？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816352"/>
            <a:ext cx="4572000" cy="475488"/>
          </a:xfrm>
          <a:prstGeom prst="roundRect">
            <a:avLst/>
          </a:prstGeom>
          <a:solidFill>
            <a:srgbClr val="CCF2FC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9077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AI: Spring Boot 自动配置基于 @EnableAutoConfiguration...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438144"/>
            <a:ext cx="4572000" cy="475488"/>
          </a:xfrm>
          <a:prstGeom prst="roundRect">
            <a:avLst/>
          </a:prstGeom>
          <a:solidFill>
            <a:srgbClr val="DCFCC7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5295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我: 能举个具体的例子吗？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059936"/>
            <a:ext cx="4572000" cy="475488"/>
          </a:xfrm>
          <a:prstGeom prst="roundRect">
            <a:avLst/>
          </a:prstGeom>
          <a:solidFill>
            <a:srgbClr val="CCF2FC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1513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AI: 当然！以 DataSourceAutoConfiguration 为例...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2231136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文字提问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4323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输入问题获取详细解答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2852928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2816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30540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支持截图/拍照识别题目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0" y="3474720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3438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逐字显示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36758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打字机效果流式输出</a:t>
            </a:r>
          </a:p>
        </p:txBody>
      </p:sp>
      <p:sp>
        <p:nvSpPr>
          <p:cNvPr id="34" name="Oval 33"/>
          <p:cNvSpPr/>
          <p:nvPr/>
        </p:nvSpPr>
        <p:spPr>
          <a:xfrm>
            <a:off x="7132320" y="4096512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保存所有答疑历史</a:t>
            </a:r>
          </a:p>
        </p:txBody>
      </p:sp>
      <p:sp>
        <p:nvSpPr>
          <p:cNvPr id="37" name="Oval 36"/>
          <p:cNvSpPr/>
          <p:nvPr/>
        </p:nvSpPr>
        <p:spPr>
          <a:xfrm>
            <a:off x="7132320" y="4718304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4681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多轮对话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4919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支持追问和深入探讨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模块五：学习效果评估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MULTI-DIMENSIONAL LEARNING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1444752"/>
            <a:ext cx="73152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AI 评估报告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2240280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根据学习行为数据生成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2953512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多维度评估分析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3666744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知识点掌握度 JSON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4379976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薄弱点精准识别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093208"/>
            <a:ext cx="118872" cy="118872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个性化提升建议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19" y="1444752"/>
            <a:ext cx="73152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93B4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31" name="Oval 30"/>
          <p:cNvSpPr/>
          <p:nvPr/>
        </p:nvSpPr>
        <p:spPr>
          <a:xfrm>
            <a:off x="4800599" y="2240280"/>
            <a:ext cx="118872" cy="118872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7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总学习时长统计</a:t>
            </a:r>
          </a:p>
        </p:txBody>
      </p:sp>
      <p:sp>
        <p:nvSpPr>
          <p:cNvPr id="33" name="Oval 32"/>
          <p:cNvSpPr/>
          <p:nvPr/>
        </p:nvSpPr>
        <p:spPr>
          <a:xfrm>
            <a:off x="4800599" y="2953512"/>
            <a:ext cx="118872" cy="118872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7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答题正确率趋势</a:t>
            </a:r>
          </a:p>
        </p:txBody>
      </p:sp>
      <p:sp>
        <p:nvSpPr>
          <p:cNvPr id="35" name="Oval 34"/>
          <p:cNvSpPr/>
          <p:nvPr/>
        </p:nvSpPr>
        <p:spPr>
          <a:xfrm>
            <a:off x="4800599" y="3666744"/>
            <a:ext cx="118872" cy="118872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7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每日学习数据</a:t>
            </a:r>
          </a:p>
        </p:txBody>
      </p:sp>
      <p:sp>
        <p:nvSpPr>
          <p:cNvPr id="37" name="Oval 36"/>
          <p:cNvSpPr/>
          <p:nvPr/>
        </p:nvSpPr>
        <p:spPr>
          <a:xfrm>
            <a:off x="4800599" y="4379976"/>
            <a:ext cx="118872" cy="118872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7487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资源类型分布</a:t>
            </a:r>
          </a:p>
        </p:txBody>
      </p:sp>
      <p:sp>
        <p:nvSpPr>
          <p:cNvPr id="39" name="Oval 38"/>
          <p:cNvSpPr/>
          <p:nvPr/>
        </p:nvSpPr>
        <p:spPr>
          <a:xfrm>
            <a:off x="4800599" y="5093208"/>
            <a:ext cx="118872" cy="118872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7487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各学科进度对比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8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66758" y="1444752"/>
            <a:ext cx="73152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8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A88D"/>
                </a:solidFill>
                <a:latin typeface="Microsoft YaHei"/>
              </a:defRPr>
            </a:pPr>
            <a:r>
              <a:t>能力雷达</a:t>
            </a:r>
          </a:p>
        </p:txBody>
      </p:sp>
      <p:sp>
        <p:nvSpPr>
          <p:cNvPr id="44" name="Oval 43"/>
          <p:cNvSpPr/>
          <p:nvPr/>
        </p:nvSpPr>
        <p:spPr>
          <a:xfrm>
            <a:off x="8549638" y="2240280"/>
            <a:ext cx="118872" cy="118872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96526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知识掌握度评估</a:t>
            </a:r>
          </a:p>
        </p:txBody>
      </p:sp>
      <p:sp>
        <p:nvSpPr>
          <p:cNvPr id="46" name="Oval 45"/>
          <p:cNvSpPr/>
          <p:nvPr/>
        </p:nvSpPr>
        <p:spPr>
          <a:xfrm>
            <a:off x="8549638" y="2953512"/>
            <a:ext cx="118872" cy="118872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6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技能应用能力</a:t>
            </a:r>
          </a:p>
        </p:txBody>
      </p:sp>
      <p:sp>
        <p:nvSpPr>
          <p:cNvPr id="48" name="Oval 47"/>
          <p:cNvSpPr/>
          <p:nvPr/>
        </p:nvSpPr>
        <p:spPr>
          <a:xfrm>
            <a:off x="8549638" y="3666744"/>
            <a:ext cx="118872" cy="118872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526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学习进度追踪</a:t>
            </a:r>
          </a:p>
        </p:txBody>
      </p:sp>
      <p:sp>
        <p:nvSpPr>
          <p:cNvPr id="50" name="Oval 49"/>
          <p:cNvSpPr/>
          <p:nvPr/>
        </p:nvSpPr>
        <p:spPr>
          <a:xfrm>
            <a:off x="8549638" y="4379976"/>
            <a:ext cx="118872" cy="118872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96526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练习准确率分析</a:t>
            </a:r>
          </a:p>
        </p:txBody>
      </p:sp>
      <p:sp>
        <p:nvSpPr>
          <p:cNvPr id="52" name="Oval 51"/>
          <p:cNvSpPr/>
          <p:nvPr/>
        </p:nvSpPr>
        <p:spPr>
          <a:xfrm>
            <a:off x="8549638" y="5093208"/>
            <a:ext cx="118872" cy="118872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96526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6D"/>
                </a:solidFill>
                <a:latin typeface="Microsoft YaHei"/>
              </a:defRPr>
            </a:pPr>
            <a:r>
              <a:t>学习一致性评分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1426464"/>
            <a:ext cx="5486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536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5A30D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554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Vue 3 + Vite + Element Plus + Pinia + Vue Router + Axios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登录注册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画像构建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92024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10896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" y="3163824"/>
            <a:ext cx="54864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93B4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291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Spring Boot 3 + Spring AI + MyBatis-Plus + JWT + Redis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画像模块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资源模块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路径模块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辅导模块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65760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评估模块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84632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" y="4901184"/>
            <a:ext cx="54864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A88D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029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MySQL 8.0 + Redis 6.0 + 14张业务表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画像表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资源表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路径表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行为表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5394960"/>
            <a:ext cx="1463040" cy="640080"/>
          </a:xfrm>
          <a:prstGeom prst="roundRect">
            <a:avLst/>
          </a:prstGeom>
          <a:solidFill>
            <a:srgbClr val="F7FAF9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评估表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技术栈详情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93B4"/>
                </a:solidFill>
                <a:latin typeface="Microsoft YaHei"/>
              </a:defRPr>
            </a:pPr>
            <a:r>
              <a:t>后端技术栈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1975104"/>
            <a:ext cx="109728" cy="10972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475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Spring Boot 3.3.5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应用框架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" y="2505456"/>
            <a:ext cx="109728" cy="10972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Java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0" y="3035808"/>
            <a:ext cx="109728" cy="10972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Spring AI 1.0.0-M6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AI 框架</a:t>
            </a:r>
          </a:p>
        </p:txBody>
      </p:sp>
      <p:sp>
        <p:nvSpPr>
          <p:cNvPr id="26" name="Oval 25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MyBatis-Plus 3.5.11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ORM 框架</a:t>
            </a:r>
          </a:p>
        </p:txBody>
      </p:sp>
      <p:sp>
        <p:nvSpPr>
          <p:cNvPr id="29" name="Oval 28"/>
          <p:cNvSpPr/>
          <p:nvPr/>
        </p:nvSpPr>
        <p:spPr>
          <a:xfrm>
            <a:off x="1188720" y="4096512"/>
            <a:ext cx="109728" cy="10972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4475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MySQL 8.0+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4626864"/>
            <a:ext cx="109728" cy="109728"/>
          </a:xfrm>
          <a:prstGeom prst="ellipse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475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Redis 6.0+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35" name="Oval 34"/>
          <p:cNvSpPr/>
          <p:nvPr/>
        </p:nvSpPr>
        <p:spPr>
          <a:xfrm>
            <a:off x="1188720" y="5157216"/>
            <a:ext cx="109728" cy="10972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4475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280160"/>
            <a:ext cx="50292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前端技术栈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1975104"/>
            <a:ext cx="109728" cy="10972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2505456"/>
            <a:ext cx="109728" cy="10972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Vite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0" y="3035808"/>
            <a:ext cx="109728" cy="10972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49" name="Oval 48"/>
          <p:cNvSpPr/>
          <p:nvPr/>
        </p:nvSpPr>
        <p:spPr>
          <a:xfrm>
            <a:off x="6858000" y="3566160"/>
            <a:ext cx="109728" cy="10972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52" name="Oval 51"/>
          <p:cNvSpPr/>
          <p:nvPr/>
        </p:nvSpPr>
        <p:spPr>
          <a:xfrm>
            <a:off x="6858000" y="4096512"/>
            <a:ext cx="109728" cy="10972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55" name="Oval 54"/>
          <p:cNvSpPr/>
          <p:nvPr/>
        </p:nvSpPr>
        <p:spPr>
          <a:xfrm>
            <a:off x="6858000" y="4626864"/>
            <a:ext cx="109728" cy="109728"/>
          </a:xfrm>
          <a:prstGeom prst="ellipse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1403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HTTP 请求</a:t>
            </a:r>
          </a:p>
        </p:txBody>
      </p:sp>
      <p:sp>
        <p:nvSpPr>
          <p:cNvPr id="58" name="Oval 57"/>
          <p:cNvSpPr/>
          <p:nvPr/>
        </p:nvSpPr>
        <p:spPr>
          <a:xfrm>
            <a:off x="6858000" y="5157216"/>
            <a:ext cx="109728" cy="10972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Markdown 渲染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富文本展示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DATABASE DESIGN - 14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426464"/>
            <a:ext cx="45720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5A30D"/>
                </a:solidFill>
                <a:latin typeface="Microsoft YaHei"/>
              </a:defRPr>
            </a:pPr>
            <a:r>
              <a:t>sys_user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93008" y="1426464"/>
            <a:ext cx="45720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93B4"/>
                </a:solidFill>
                <a:latin typeface="Microsoft YaHei"/>
              </a:defRPr>
            </a:pPr>
            <a:r>
              <a:t>student_profile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1426464"/>
            <a:ext cx="45720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A88D"/>
                </a:solidFill>
                <a:latin typeface="Microsoft YaHei"/>
              </a:defRPr>
            </a:pPr>
            <a:r>
              <a:t>chat_context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对话上下文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62288" y="1426464"/>
            <a:ext cx="45720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7EC8"/>
                </a:solidFill>
                <a:latin typeface="Microsoft YaHei"/>
              </a:defRPr>
            </a:pPr>
            <a:r>
              <a:t>ai_agent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AI智能体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072384"/>
            <a:ext cx="45720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5A30D"/>
                </a:solidFill>
                <a:latin typeface="Microsoft YaHei"/>
              </a:defRPr>
            </a:pPr>
            <a:r>
              <a:t>learning_resource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3072384"/>
            <a:ext cx="45720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93B4"/>
                </a:solidFill>
                <a:latin typeface="Microsoft YaHei"/>
              </a:defRPr>
            </a:pPr>
            <a:r>
              <a:t>learning_path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学习路径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3072384"/>
            <a:ext cx="45720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A88D"/>
                </a:solidFill>
                <a:latin typeface="Microsoft YaHei"/>
              </a:defRPr>
            </a:pPr>
            <a:r>
              <a:t>learning_path_step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路径步骤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62288" y="3072384"/>
            <a:ext cx="45720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7EC8"/>
                </a:solidFill>
                <a:latin typeface="Microsoft YaHei"/>
              </a:defRPr>
            </a:pPr>
            <a:r>
              <a:t>step_resource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步骤资源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4718304"/>
            <a:ext cx="45720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8967A"/>
                </a:solidFill>
                <a:latin typeface="Microsoft YaHei"/>
              </a:defRPr>
            </a:pPr>
            <a:r>
              <a:t>learning_behavior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学习行为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93008" y="4718304"/>
            <a:ext cx="457200" cy="381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4787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5BA0D0"/>
                </a:solidFill>
                <a:latin typeface="Microsoft YaHei"/>
              </a:defRPr>
            </a:pPr>
            <a:r>
              <a:t>question_answer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答题记录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7648" y="4718304"/>
            <a:ext cx="45720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5A30D"/>
                </a:solidFill>
                <a:latin typeface="Microsoft YaHei"/>
              </a:defRPr>
            </a:pPr>
            <a:r>
              <a:t>video_progress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视频进度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62288" y="4718304"/>
            <a:ext cx="45720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715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93B4"/>
                </a:solidFill>
                <a:latin typeface="Microsoft YaHei"/>
              </a:defRPr>
            </a:pPr>
            <a:r>
              <a:t>learning_evaluate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715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学习评估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" y="6364224"/>
            <a:ext cx="45720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6EA88D"/>
                </a:solidFill>
                <a:latin typeface="Microsoft YaHei"/>
              </a:defRPr>
            </a:pPr>
            <a:r>
              <a:t>smart_tutor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328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3008" y="6364224"/>
            <a:ext cx="45720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4787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7EC8"/>
                </a:solidFill>
                <a:latin typeface="Microsoft YaHei"/>
              </a:defRPr>
            </a:pPr>
            <a:r>
              <a:t>generate_task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4787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B0A5"/>
                </a:solidFill>
                <a:latin typeface="Microsoft YaHei"/>
              </a:defRPr>
            </a:pPr>
            <a:r>
              <a:t>生成任务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426464"/>
            <a:ext cx="73152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多智能体策略模式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6个智能体各自独立策略类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新增智能体只需实现接口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符合开闭原则 OCP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1426464"/>
            <a:ext cx="731520" cy="38100"/>
          </a:xfrm>
          <a:prstGeom prst="rect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07992" y="1536192"/>
            <a:ext cx="384048" cy="384048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AI多轮对话收集信息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自动抽取结构化字段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替代传统表单填写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1426464"/>
            <a:ext cx="731520" cy="38100"/>
          </a:xfrm>
          <a:prstGeom prst="rect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2752" y="1536192"/>
            <a:ext cx="384048" cy="384048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异步任务解耦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独立Bean解决@Async失效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前端轮询实时进度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零长连接依赖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3986784"/>
            <a:ext cx="731520" cy="38100"/>
          </a:xfrm>
          <a:prstGeom prst="rect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3232" y="4096512"/>
            <a:ext cx="384048" cy="384048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Prompt 工程化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各智能体独立Prompt模板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数据库存储动态配置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结构化输出确保质量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0" y="3986784"/>
            <a:ext cx="731520" cy="38100"/>
          </a:xfrm>
          <a:prstGeom prst="rect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0176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9943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5种调整方式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943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AI自动重新规划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943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实时更新倒计时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3986784"/>
            <a:ext cx="731520" cy="381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02752" y="4096512"/>
            <a:ext cx="384048" cy="384048"/>
          </a:xfrm>
          <a:prstGeom prst="ellipse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9652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4A3E"/>
                </a:solidFill>
                <a:latin typeface="Microsoft YaHei"/>
              </a:defRPr>
            </a:pPr>
            <a:r>
              <a:t>全链路评估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9419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行为+答题+AI分析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419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多维度能力雷达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9419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6D"/>
                </a:solidFill>
                <a:latin typeface="Microsoft YaHei"/>
              </a:defRPr>
            </a:pPr>
            <a:r>
              <a:t>自动同步画像更新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560320" cy="256032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097280" cy="109728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760720"/>
            <a:ext cx="640080" cy="64008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2004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4389120"/>
            <a:ext cx="27432" cy="27432"/>
          </a:xfrm>
          <a:prstGeom prst="ellipse">
            <a:avLst/>
          </a:prstGeom>
          <a:solidFill>
            <a:srgbClr val="38B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28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B0A5"/>
                </a:solidFill>
                <a:latin typeface="Microsoft YaHei"/>
              </a:defRPr>
            </a:pPr>
            <a:r>
              <a:t>ACHIEVEMENTS &amp;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34440"/>
            <a:ext cx="1463040" cy="381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5A30D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E93B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AI 智能体角色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EA88D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数据库表设计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7EC8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前端页面组件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967A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A30D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2066544"/>
            <a:ext cx="128016" cy="128016"/>
          </a:xfrm>
          <a:prstGeom prst="ellipse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2011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267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接入 Server-Sent Events 实现真正流式响应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2843784"/>
            <a:ext cx="128016" cy="128016"/>
          </a:xfrm>
          <a:prstGeom prst="ellipse">
            <a:avLst/>
          </a:prstGeom>
          <a:solidFill>
            <a:srgbClr val="0E9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2788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Redis 深度缓存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3044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画像、资源、统计数据全面缓存优化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3621024"/>
            <a:ext cx="128016" cy="128016"/>
          </a:xfrm>
          <a:prstGeom prst="ellipse">
            <a:avLst/>
          </a:prstGeom>
          <a:solidFill>
            <a:srgbClr val="6E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35661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WebSocket 通知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822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实时推送通知（新资源、路径建议）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0" y="4398264"/>
            <a:ext cx="128016" cy="128016"/>
          </a:xfrm>
          <a:prstGeom prst="ellipse">
            <a:avLst/>
          </a:prstGeom>
          <a:solidFill>
            <a:srgbClr val="8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43434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加权评估算法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4599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多维度加权评分，更精准的效果评估</a:t>
            </a:r>
          </a:p>
        </p:txBody>
      </p:sp>
      <p:sp>
        <p:nvSpPr>
          <p:cNvPr id="41" name="Oval 40"/>
          <p:cNvSpPr/>
          <p:nvPr/>
        </p:nvSpPr>
        <p:spPr>
          <a:xfrm>
            <a:off x="6858000" y="5175504"/>
            <a:ext cx="128016" cy="128016"/>
          </a:xfrm>
          <a:prstGeom prst="ellipse">
            <a:avLst/>
          </a:prstGeom>
          <a:solidFill>
            <a:srgbClr val="E8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5120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4A3E"/>
                </a:solidFill>
                <a:latin typeface="Microsoft YaHei"/>
              </a:defRPr>
            </a:pPr>
            <a:r>
              <a:t>单元测试覆盖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53766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B0A5"/>
                </a:solidFill>
                <a:latin typeface="Microsoft YaHei"/>
              </a:defRPr>
            </a:pPr>
            <a:r>
              <a:t>补充 Service/Controller 层测试用例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3200400" cy="3200400"/>
          </a:xfrm>
          <a:prstGeom prst="ellipse">
            <a:avLst/>
          </a:prstGeom>
          <a:solidFill>
            <a:srgbClr val="CC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1828800" cy="1828800"/>
          </a:xfrm>
          <a:prstGeom prst="ellipse">
            <a:avLst/>
          </a:prstGeom>
          <a:solidFill>
            <a:srgbClr val="DCF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D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914400"/>
            <a:ext cx="54864" cy="54864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5029200"/>
            <a:ext cx="45720" cy="457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2E2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606040"/>
            <a:ext cx="2286000" cy="44450"/>
          </a:xfrm>
          <a:prstGeom prst="rect">
            <a:avLst/>
          </a:prstGeom>
          <a:gradFill rotWithShape="1">
            <a:gsLst>
              <a:gs pos="0">
                <a:srgbClr val="65A30D"/>
              </a:gs>
              <a:gs pos="100000">
                <a:srgbClr val="0E93B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5A30D"/>
                </a:solidFill>
                <a:latin typeface="Microsoft YaHei"/>
              </a:defRPr>
            </a:pPr>
            <a:r>
              <a:t>MediCraft - AI 智能学习辅助系统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7A6D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1691" y="3931920"/>
            <a:ext cx="1325880" cy="301752"/>
          </a:xfrm>
          <a:prstGeom prst="roundRect">
            <a:avLst/>
          </a:prstGeom>
          <a:solidFill>
            <a:srgbClr val="DCFCC7"/>
          </a:solidFill>
          <a:ln w="9525">
            <a:solidFill>
              <a:srgbClr val="65A3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1691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5A30D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97299" y="3931920"/>
            <a:ext cx="1325880" cy="301752"/>
          </a:xfrm>
          <a:prstGeom prst="roundRect">
            <a:avLst/>
          </a:prstGeom>
          <a:solidFill>
            <a:srgbClr val="CCF2FC"/>
          </a:solidFill>
          <a:ln w="9525">
            <a:solidFill>
              <a:srgbClr val="0E9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7299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E93B4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32907" y="3931920"/>
            <a:ext cx="1325880" cy="301752"/>
          </a:xfrm>
          <a:prstGeom prst="roundRect">
            <a:avLst/>
          </a:prstGeom>
          <a:solidFill>
            <a:srgbClr val="D8EFE4"/>
          </a:solidFill>
          <a:ln w="9525">
            <a:solidFill>
              <a:srgbClr val="6E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2907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A88D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68515" y="3931920"/>
            <a:ext cx="1325880" cy="301752"/>
          </a:xfrm>
          <a:prstGeom prst="roundRect">
            <a:avLst/>
          </a:prstGeom>
          <a:solidFill>
            <a:srgbClr val="E8E5F8"/>
          </a:solidFill>
          <a:ln w="9525">
            <a:solidFill>
              <a:srgbClr val="8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8515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7EC8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4123" y="3931920"/>
            <a:ext cx="1325880" cy="301752"/>
          </a:xfrm>
          <a:prstGeom prst="roundRect">
            <a:avLst/>
          </a:prstGeom>
          <a:solidFill>
            <a:srgbClr val="FDEBE2"/>
          </a:solidFill>
          <a:ln w="9525">
            <a:solidFill>
              <a:srgbClr val="E89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4123" y="3950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967A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4572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B0A5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5B0A5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