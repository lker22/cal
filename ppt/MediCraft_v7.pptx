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0292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7096" y="48768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9871" y="47244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12648" y="45720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5424" y="44196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8200" y="42672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41148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3752" y="3962399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6528" y="38100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9304" y="36576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02080" y="35052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14856" y="33528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27632" y="32004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40408" y="3047999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53184" y="28956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65960" y="27432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78736" y="25908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191512" y="24384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04288" y="22860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7064" y="21336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29840" y="19812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42615" y="18288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55392" y="16764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868168" y="1523999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80944" y="13716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93720" y="1219199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206496" y="1066799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319272" y="9144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32048" y="761999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44824" y="6096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57600" y="4572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200" y="54864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4360" y="53340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1520" y="51816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8680" y="50292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840" y="48768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43000" y="47244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" y="45720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417320" y="44196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554480" y="42672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91639" y="41148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39624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965960" y="38100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103120" y="36576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240280" y="3505199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77440" y="33528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514600" y="32004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651760" y="30480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788920" y="28956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926079" y="27432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63239" y="25908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200400" y="24384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337560" y="22860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74720" y="21336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611880" y="1981199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749039" y="18288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886200" y="1676399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023360" y="1523999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60520" y="13716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97680" y="1219199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434840" y="10668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572000" y="9144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14400" y="59436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6800" y="57912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219200" y="56388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371600" y="54864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523999" y="53340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676400" y="51816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828800" y="50292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981200" y="48768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133599" y="47244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286000" y="45720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438400" y="44196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590799" y="42672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743200" y="41148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895600" y="3962399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048000" y="3809999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200400" y="36576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352800" y="35052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05199" y="33528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657600" y="32004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09999" y="30480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962399" y="28956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114800" y="27432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267199" y="25908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419600" y="24384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572000" y="22860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724400" y="2133599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876800" y="1981199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029200" y="18288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181600" y="1676399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334000" y="15240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486400" y="13716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31520" y="457200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13816" y="446532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96112" y="435864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78408" y="425196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60704" y="414528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43000" y="403860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225296" y="393192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307592" y="382524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389888" y="371856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472184" y="361188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554480" y="350520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636776" y="339852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719072" y="3291839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801368" y="318516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883664" y="307848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965960" y="297180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048256" y="286512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2130552" y="275844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212848" y="265176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295144" y="254508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377440" y="243840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459736" y="233172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542032" y="222504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2624328" y="211836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06624" y="2011679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788920" y="1904999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2871216" y="179832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2953512" y="169164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035808" y="158496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118104" y="147828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200400" y="137160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371600" y="54864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493520" y="53644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615440" y="52425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737360" y="51206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859280" y="49987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981199" y="48768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2103120" y="47548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2225040" y="46329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2346960" y="45110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2468880" y="43891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590799" y="42672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712720" y="41452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2834640" y="40233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2956560" y="39014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078480" y="3779519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200400" y="36576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322320" y="35356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444240" y="34137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3566160" y="32918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688080" y="31699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809999" y="30480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931920" y="29260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053840" y="28041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175760" y="26822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4297680" y="25603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419600" y="24384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41520" y="23164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663440" y="21945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785360" y="20726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4907280" y="19507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5029200" y="18288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828800" y="27432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920240" y="402336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2011680" y="530352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2103120" y="658368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2194560" y="786384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286000" y="9144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377440" y="1042416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2468880" y="1170432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2560320" y="1298448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2651760" y="1426464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743200" y="155448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2834639" y="1682496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2926080" y="1810512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3017520" y="1938528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3108960" y="2066544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3200400" y="219456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3291840" y="2322576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3383280" y="2450591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3474720" y="2578608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3566160" y="2706624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657600" y="2834639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749039" y="2962656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3840479" y="3090672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3931920" y="3218688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023360" y="3346704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114800" y="347472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206240" y="3602736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297680" y="3730752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4389120" y="3858768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4480560" y="3986784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4572000" y="41148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743200" y="4572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834640" y="5943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926080" y="7315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017520" y="8686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3108960" y="10058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3200400" y="11430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3291840" y="12801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3383280" y="14173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3474720" y="15544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3566160" y="1691639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3657600" y="18288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3749039" y="19659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3840480" y="21031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3931920" y="22402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023360" y="23774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4114800" y="25146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4206240" y="26517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4297680" y="27889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4389120" y="2926079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480560" y="3063239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572000" y="32004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663440" y="33375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754879" y="34747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4846320" y="36118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4937760" y="3749039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5029200" y="38862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5120640" y="40233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5212080" y="41605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303520" y="42976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394960" y="44348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5486400" y="45720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14400" y="9144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021080" y="10668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27760" y="12192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234440" y="13716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341120" y="1523999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447800" y="16764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554480" y="18288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61160" y="19812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767840" y="2133599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874519" y="22860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981199" y="24384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2087880" y="2590799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194560" y="27432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301240" y="28956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407920" y="30480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2514600" y="32004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2621280" y="33528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2727960" y="3505199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2834640" y="36576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2941320" y="3809999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3047999" y="3962399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3154679" y="41148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3261360" y="4267199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3368040" y="44196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3474720" y="45720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3581400" y="47244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3688080" y="48768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3794760" y="50292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3901440" y="51816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4008119" y="53340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4114800" y="54864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2286000" y="2286000"/>
            <a:ext cx="109728" cy="10972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313432" y="2313432"/>
            <a:ext cx="43891" cy="43891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3200400" y="3200400"/>
            <a:ext cx="91440" cy="91440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3223260" y="3223260"/>
            <a:ext cx="36576" cy="3657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371600" y="2743200"/>
            <a:ext cx="73152" cy="7315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389888" y="2761488"/>
            <a:ext cx="29260" cy="292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657600" y="1828800"/>
            <a:ext cx="82296" cy="8229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678174" y="1849374"/>
            <a:ext cx="32918" cy="3291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2743200" y="1371600"/>
            <a:ext cx="64008" cy="6400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759202" y="1387602"/>
            <a:ext cx="25603" cy="256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51660" y="3680460"/>
            <a:ext cx="36576" cy="3657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4114800" y="2743200"/>
            <a:ext cx="73152" cy="7315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133087" y="2761488"/>
            <a:ext cx="29260" cy="292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914400" y="4114800"/>
            <a:ext cx="54864" cy="5486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928115" y="4128515"/>
            <a:ext cx="21945" cy="21945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2743200" y="4572000"/>
            <a:ext cx="64008" cy="6400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2759202" y="4588002"/>
            <a:ext cx="25603" cy="256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400800" y="457200"/>
            <a:ext cx="6400800" cy="5486400"/>
          </a:xfrm>
          <a:prstGeom prst="ellipse">
            <a:avLst/>
          </a:prstGeom>
          <a:gradFill rotWithShape="1">
            <a:gsLst>
              <a:gs pos="0">
                <a:srgbClr val="0F254A">
                  <a:lumMod val="20000"/>
                  <a:lumOff val="80000"/>
                </a:srgbClr>
              </a:gs>
              <a:gs pos="100000">
                <a:srgbClr val="0A1A3A">
                  <a:lumMod val="60000"/>
                  <a:lumOff val="4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731520" y="457200"/>
            <a:ext cx="38100" cy="5943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AI 智能学习辅助系统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1371600" y="2926080"/>
            <a:ext cx="4572000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B0C8"/>
                </a:solidFill>
                <a:latin typeface="Microsoft YaHei"/>
              </a:defRPr>
            </a:pPr>
            <a:r>
              <a:t>AI INTELLIGENT LEARNING ASSISTANCE SYSTEM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3716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B0C8"/>
                </a:solidFill>
                <a:latin typeface="Microsoft YaHei"/>
              </a:defRPr>
            </a:pPr>
            <a:r>
              <a:t>基于多智能体协同的个性化学习路径规划与效果评估平台</a:t>
            </a:r>
          </a:p>
        </p:txBody>
      </p:sp>
      <p:sp>
        <p:nvSpPr>
          <p:cNvPr id="274" name="Rounded Rectangle 273"/>
          <p:cNvSpPr/>
          <p:nvPr/>
        </p:nvSpPr>
        <p:spPr>
          <a:xfrm>
            <a:off x="1371600" y="4754880"/>
            <a:ext cx="1280160" cy="301752"/>
          </a:xfrm>
          <a:prstGeom prst="roundRect">
            <a:avLst/>
          </a:prstGeom>
          <a:solidFill>
            <a:srgbClr val="15305A"/>
          </a:solidFill>
          <a:ln w="9525"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1371600" y="47731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B0C8"/>
                </a:solidFill>
                <a:latin typeface="Microsoft YaHei"/>
              </a:defRPr>
            </a:pPr>
            <a:r>
              <a:t>Spring Boot 3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2788920" y="4754880"/>
            <a:ext cx="1280160" cy="301752"/>
          </a:xfrm>
          <a:prstGeom prst="roundRect">
            <a:avLst/>
          </a:prstGeom>
          <a:solidFill>
            <a:srgbClr val="15305A"/>
          </a:solidFill>
          <a:ln w="9525"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2788920" y="47731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B0C8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4206240" y="4754880"/>
            <a:ext cx="1280160" cy="301752"/>
          </a:xfrm>
          <a:prstGeom prst="roundRect">
            <a:avLst/>
          </a:prstGeom>
          <a:solidFill>
            <a:srgbClr val="15305A"/>
          </a:solidFill>
          <a:ln w="9525"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4206240" y="47731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B0C8"/>
                </a:solidFill>
                <a:latin typeface="Microsoft YaHei"/>
              </a:defRPr>
            </a:pPr>
            <a:r>
              <a:t>Spring AI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5623560" y="4754880"/>
            <a:ext cx="1280160" cy="301752"/>
          </a:xfrm>
          <a:prstGeom prst="roundRect">
            <a:avLst/>
          </a:prstGeom>
          <a:solidFill>
            <a:srgbClr val="15305A"/>
          </a:solidFill>
          <a:ln w="9525"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5623560" y="47731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B0C8"/>
                </a:solidFill>
                <a:latin typeface="Microsoft YaHei"/>
              </a:defRPr>
            </a:pPr>
            <a:r>
              <a:t>多智能体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7040880" y="4754880"/>
            <a:ext cx="1280160" cy="301752"/>
          </a:xfrm>
          <a:prstGeom prst="roundRect">
            <a:avLst/>
          </a:prstGeom>
          <a:solidFill>
            <a:srgbClr val="15305A"/>
          </a:solidFill>
          <a:ln w="9525"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7040880" y="47731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B0C8"/>
                </a:solidFill>
                <a:latin typeface="Microsoft YaHei"/>
              </a:defRPr>
            </a:pPr>
            <a:r>
              <a:t>个性化学习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3716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MediCraft Development Team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3716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2026 年度大学生创新创业项目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029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9651" y="48463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4982" y="46634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0313" y="44805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5644" y="42976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41148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6307" y="39319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1638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56969" y="3566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2300" y="33832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27632" y="32004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62963" y="30175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98294" y="28346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33625" y="26517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8956" y="24688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4288" y="2286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39619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4950" y="19202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0281" y="17373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45612" y="15544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80944" y="13716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16275" y="118871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51606" y="10058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6937" y="82295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2268" y="6400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5486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53035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6384" y="51206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0976" y="49377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5568" y="47548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5720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44752" y="43891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09344" y="42062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773936" y="40233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38528" y="38404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03120" y="36576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67712" y="34747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32304" y="32918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96896" y="31089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61488" y="292607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26079" y="27432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90672" y="25603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55264" y="23774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19856" y="21945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84448" y="20116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49039" y="18288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13631" y="164591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78224" y="14630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42816" y="128015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07408" y="10972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72000" y="914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28800" y="27432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38528" y="42793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48256" y="58155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57984" y="73517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7712" y="88879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377440" y="104241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87168" y="119603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596896" y="134965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706624" y="150327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16352" y="165689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26080" y="181051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35808" y="196413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145536" y="211775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255264" y="227136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64992" y="242498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74720" y="257860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584448" y="273222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94176" y="288584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03904" y="303946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13632" y="319308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23360" y="334670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133087" y="350032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42816" y="365394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52544" y="380756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62272" y="396118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72000" y="411480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432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852928" y="62179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962656" y="78638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072384" y="95097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182112" y="111556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91840" y="1280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01568" y="144475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511296" y="160934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21024" y="177393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730752" y="193852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50208" y="226771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059935" y="243230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169664" y="259689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279392" y="276148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89120" y="29260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498848" y="309067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608576" y="325526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18304" y="341985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828032" y="358444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937760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47488" y="3913631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157216" y="407822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266944" y="424281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76672" y="440740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486400" y="4572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286000" y="2286000"/>
            <a:ext cx="73152" cy="731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200400" y="32004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71600" y="2743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57600" y="18288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743200" y="13716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88720" y="1371600"/>
            <a:ext cx="475488" cy="47548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88720" y="137160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920240" y="1389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920240" y="16916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传统教育痛点与AI赋能机遇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920240" y="1993392"/>
            <a:ext cx="8686800" cy="12700"/>
          </a:xfrm>
          <a:prstGeom prst="rect">
            <a:avLst/>
          </a:prstGeom>
          <a:gradFill rotWithShape="1">
            <a:gsLst>
              <a:gs pos="0">
                <a:srgbClr val="DBEAFE"/>
              </a:gs>
              <a:gs pos="100000">
                <a:srgbClr val="CCFBF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88720" y="2194560"/>
            <a:ext cx="475488" cy="47548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88720" y="219456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920240" y="2212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系统概述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920240" y="25146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全链路AI辅助学习平台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920240" y="2816352"/>
            <a:ext cx="8686800" cy="12700"/>
          </a:xfrm>
          <a:prstGeom prst="rect">
            <a:avLst/>
          </a:prstGeom>
          <a:gradFill rotWithShape="1">
            <a:gsLst>
              <a:gs pos="0">
                <a:srgbClr val="DBEAFE"/>
              </a:gs>
              <a:gs pos="100000">
                <a:srgbClr val="CCFBF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88720" y="3017520"/>
            <a:ext cx="475488" cy="47548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88720" y="301752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920240" y="30358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920240" y="33375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五大智能模块详解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920240" y="3639312"/>
            <a:ext cx="8686800" cy="12700"/>
          </a:xfrm>
          <a:prstGeom prst="rect">
            <a:avLst/>
          </a:prstGeom>
          <a:gradFill rotWithShape="1">
            <a:gsLst>
              <a:gs pos="0">
                <a:srgbClr val="DBEAFE"/>
              </a:gs>
              <a:gs pos="100000">
                <a:srgbClr val="CCFBF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88720" y="384048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384048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920240" y="38587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920240" y="4160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前后端分离+多智能体协同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920240" y="4462272"/>
            <a:ext cx="8686800" cy="12700"/>
          </a:xfrm>
          <a:prstGeom prst="rect">
            <a:avLst/>
          </a:prstGeom>
          <a:gradFill rotWithShape="1">
            <a:gsLst>
              <a:gs pos="0">
                <a:srgbClr val="DBEAFE"/>
              </a:gs>
              <a:gs pos="100000">
                <a:srgbClr val="CCFBF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188720" y="466344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88720" y="466344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920240" y="4681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创新亮点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920240" y="49834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架构创新与工程实践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920240" y="5285232"/>
            <a:ext cx="8686800" cy="12700"/>
          </a:xfrm>
          <a:prstGeom prst="rect">
            <a:avLst/>
          </a:prstGeom>
          <a:gradFill rotWithShape="1">
            <a:gsLst>
              <a:gs pos="0">
                <a:srgbClr val="DBEAFE"/>
              </a:gs>
              <a:gs pos="100000">
                <a:srgbClr val="CCFBF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88720" y="5486400"/>
            <a:ext cx="475488" cy="47548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88720" y="548640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920240" y="5504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920240" y="58064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成果展示与未来规划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029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9651" y="48463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4982" y="46634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0313" y="44805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5644" y="42976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41148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6307" y="39319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1638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56969" y="3566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2300" y="33832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27632" y="32004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62963" y="30175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98294" y="28346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33625" y="26517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8956" y="24688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4288" y="2286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39619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4950" y="19202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0281" y="17373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45612" y="15544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80944" y="13716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16275" y="118871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51606" y="10058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6937" y="82295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2268" y="6400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5486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53035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6384" y="51206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0976" y="49377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5568" y="47548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5720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44752" y="43891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09344" y="42062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773936" y="40233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38528" y="38404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03120" y="36576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67712" y="34747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32304" y="32918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96896" y="31089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61488" y="292607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26079" y="27432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90672" y="25603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55264" y="23774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19856" y="21945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84448" y="20116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49039" y="18288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13631" y="164591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78224" y="14630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42816" y="128015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07408" y="10972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72000" y="914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28800" y="27432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38528" y="42793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48256" y="58155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57984" y="73517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7712" y="88879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377440" y="104241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87168" y="119603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596896" y="134965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706624" y="150327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16352" y="165689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26080" y="181051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35808" y="196413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145536" y="211775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255264" y="227136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64992" y="242498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74720" y="257860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584448" y="273222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94176" y="288584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03904" y="303946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13632" y="319308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23360" y="334670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133087" y="350032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42816" y="365394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52544" y="380756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62272" y="396118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72000" y="411480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432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852928" y="62179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962656" y="78638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072384" y="95097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182112" y="111556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91840" y="1280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01568" y="144475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511296" y="160934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21024" y="177393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730752" y="193852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50208" y="226771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059935" y="243230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169664" y="259689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279392" y="276148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89120" y="29260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498848" y="309067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608576" y="325526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18304" y="341985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828032" y="358444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937760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47488" y="3913631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157216" y="407822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266944" y="424281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76672" y="440740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486400" y="4572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286000" y="2286000"/>
            <a:ext cx="73152" cy="731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200400" y="32004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71600" y="2743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57600" y="18288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743200" y="13716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WHY WE BUILD THIS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31520" y="1371600"/>
            <a:ext cx="530352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2296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96112" y="1444752"/>
            <a:ext cx="73152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5156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传统教育困境</a:t>
            </a:r>
          </a:p>
        </p:txBody>
      </p:sp>
      <p:sp>
        <p:nvSpPr>
          <p:cNvPr id="119" name="Oval 118"/>
          <p:cNvSpPr/>
          <p:nvPr/>
        </p:nvSpPr>
        <p:spPr>
          <a:xfrm>
            <a:off x="1097280" y="2249424"/>
            <a:ext cx="118872" cy="11887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389888" y="21945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学习资源千篇一律，无法满足个性化需求</a:t>
            </a:r>
          </a:p>
        </p:txBody>
      </p:sp>
      <p:sp>
        <p:nvSpPr>
          <p:cNvPr id="121" name="Oval 120"/>
          <p:cNvSpPr/>
          <p:nvPr/>
        </p:nvSpPr>
        <p:spPr>
          <a:xfrm>
            <a:off x="1097280" y="3026664"/>
            <a:ext cx="118872" cy="11887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389888" y="2971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学生缺乏科学的学习路径规划指导</a:t>
            </a:r>
          </a:p>
        </p:txBody>
      </p:sp>
      <p:sp>
        <p:nvSpPr>
          <p:cNvPr id="123" name="Oval 122"/>
          <p:cNvSpPr/>
          <p:nvPr/>
        </p:nvSpPr>
        <p:spPr>
          <a:xfrm>
            <a:off x="1097280" y="3803904"/>
            <a:ext cx="118872" cy="11887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389888" y="3749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学习效果评估依赖考试，维度单一</a:t>
            </a:r>
          </a:p>
        </p:txBody>
      </p:sp>
      <p:sp>
        <p:nvSpPr>
          <p:cNvPr id="125" name="Oval 124"/>
          <p:cNvSpPr/>
          <p:nvPr/>
        </p:nvSpPr>
        <p:spPr>
          <a:xfrm>
            <a:off x="1097280" y="4581144"/>
            <a:ext cx="118872" cy="11887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389888" y="45262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师生比失衡，个性化辅导难以实现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400800" y="1371600"/>
            <a:ext cx="530352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49224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565392" y="1444752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2084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AI 赋能机遇</a:t>
            </a:r>
          </a:p>
        </p:txBody>
      </p:sp>
      <p:sp>
        <p:nvSpPr>
          <p:cNvPr id="131" name="Oval 130"/>
          <p:cNvSpPr/>
          <p:nvPr/>
        </p:nvSpPr>
        <p:spPr>
          <a:xfrm>
            <a:off x="6766560" y="2249424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059168" y="21945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大语言模型可实现智能内容生成</a:t>
            </a:r>
          </a:p>
        </p:txBody>
      </p:sp>
      <p:sp>
        <p:nvSpPr>
          <p:cNvPr id="133" name="Oval 132"/>
          <p:cNvSpPr/>
          <p:nvPr/>
        </p:nvSpPr>
        <p:spPr>
          <a:xfrm>
            <a:off x="6766560" y="3026664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059168" y="2971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多智能体协同处理复杂教育任务</a:t>
            </a:r>
          </a:p>
        </p:txBody>
      </p:sp>
      <p:sp>
        <p:nvSpPr>
          <p:cNvPr id="135" name="Oval 134"/>
          <p:cNvSpPr/>
          <p:nvPr/>
        </p:nvSpPr>
        <p:spPr>
          <a:xfrm>
            <a:off x="6766560" y="3803904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059168" y="3749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数据驱动的精准学情分析成为可能</a:t>
            </a:r>
          </a:p>
        </p:txBody>
      </p:sp>
      <p:sp>
        <p:nvSpPr>
          <p:cNvPr id="137" name="Oval 136"/>
          <p:cNvSpPr/>
          <p:nvPr/>
        </p:nvSpPr>
        <p:spPr>
          <a:xfrm>
            <a:off x="6766560" y="4581144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059168" y="45262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个性化学习路径自动规划与调整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029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9651" y="48463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4982" y="46634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0313" y="44805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5644" y="42976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41148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6307" y="39319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1638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56969" y="3566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2300" y="33832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27632" y="32004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62963" y="30175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98294" y="28346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33625" y="26517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8956" y="24688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4288" y="2286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39619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4950" y="19202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0281" y="17373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45612" y="15544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80944" y="13716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16275" y="118871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51606" y="10058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6937" y="82295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2268" y="6400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5486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53035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6384" y="51206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0976" y="49377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5568" y="47548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5720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44752" y="43891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09344" y="42062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773936" y="40233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38528" y="38404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03120" y="36576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67712" y="34747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32304" y="32918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96896" y="31089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61488" y="292607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26079" y="27432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90672" y="25603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55264" y="23774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19856" y="21945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84448" y="20116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49039" y="18288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13631" y="164591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78224" y="14630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42816" y="128015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07408" y="10972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72000" y="914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28800" y="27432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38528" y="42793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48256" y="58155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57984" y="73517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7712" y="88879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377440" y="104241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87168" y="119603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596896" y="134965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706624" y="150327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16352" y="165689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26080" y="181051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35808" y="196413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145536" y="211775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255264" y="227136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64992" y="242498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74720" y="257860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584448" y="273222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94176" y="288584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03904" y="303946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13632" y="319308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23360" y="334670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133087" y="350032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42816" y="365394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52544" y="380756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62272" y="396118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72000" y="411480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432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852928" y="62179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962656" y="78638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072384" y="95097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182112" y="111556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91840" y="1280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01568" y="144475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511296" y="160934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21024" y="177393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730752" y="193852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50208" y="226771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059935" y="243230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169664" y="259689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279392" y="276148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89120" y="29260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498848" y="309067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608576" y="325526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18304" y="341985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828032" y="358444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937760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47488" y="3913631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157216" y="407822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266944" y="424281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76672" y="440740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486400" y="4572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286000" y="2286000"/>
            <a:ext cx="73152" cy="731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200400" y="32004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71600" y="2743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57600" y="18288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743200" y="13716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系统概述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MediCraft - AI SMART LEARNING PLATFORM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MediCraft 是一个基于多智能体协同的个性化学习平台，为学生提供从画像构建、资源生成、路径规划到效果评估的全链路 AI 辅助学习体验。</a:t>
            </a:r>
          </a:p>
        </p:txBody>
      </p:sp>
      <p:sp>
        <p:nvSpPr>
          <p:cNvPr id="116" name="Oval 115"/>
          <p:cNvSpPr/>
          <p:nvPr/>
        </p:nvSpPr>
        <p:spPr>
          <a:xfrm>
            <a:off x="4846320" y="2468880"/>
            <a:ext cx="2103120" cy="2103120"/>
          </a:xfrm>
          <a:prstGeom prst="ellipse">
            <a:avLst/>
          </a:prstGeom>
          <a:gradFill rotWithShape="1">
            <a:gsLst>
              <a:gs pos="0">
                <a:srgbClr val="DBEAFE">
                  <a:lumMod val="20000"/>
                  <a:lumOff val="80000"/>
                </a:srgbClr>
              </a:gs>
              <a:gs pos="100000">
                <a:srgbClr val="CCFBF1">
                  <a:lumMod val="60000"/>
                  <a:lumOff val="4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94960" y="2926080"/>
            <a:ext cx="1097280" cy="10972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394960" y="292608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AI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188720" y="237744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280160" y="241401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298448" y="2432304"/>
            <a:ext cx="36576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783080" y="2514600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783080" y="251460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280160" y="297180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学习画像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280160" y="32461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6维画像构建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291840" y="438912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383280" y="442569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401568" y="4443984"/>
            <a:ext cx="36576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3886200" y="4526280"/>
            <a:ext cx="384048" cy="38404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886200" y="452628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83280" y="49834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资源生成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383280" y="525780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6大AI智能体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394960" y="475488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486400" y="479145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504688" y="4809744"/>
            <a:ext cx="36576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989320" y="4892040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989320" y="489204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486400" y="53492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路径规划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486400" y="562356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动态路径调整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498079" y="438912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589519" y="442569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607807" y="4443984"/>
            <a:ext cx="3657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8092439" y="452628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92439" y="452628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589519" y="49834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智能辅导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589519" y="525780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多模态答疑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9601200" y="2377440"/>
            <a:ext cx="192024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692640" y="241401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710928" y="2432304"/>
            <a:ext cx="3657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195560" y="251460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195560" y="251460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692640" y="297180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效果评估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692640" y="32461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多维度评估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029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9651" y="48463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4982" y="46634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0313" y="44805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5644" y="42976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41148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6307" y="39319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1638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56969" y="3566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2300" y="33832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27632" y="32004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62963" y="30175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98294" y="28346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33625" y="26517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8956" y="24688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4288" y="2286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39619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4950" y="19202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0281" y="17373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45612" y="15544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80944" y="13716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16275" y="118871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51606" y="10058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6937" y="82295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2268" y="6400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5486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53035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6384" y="51206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0976" y="49377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5568" y="47548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5720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44752" y="43891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09344" y="42062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773936" y="40233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38528" y="38404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03120" y="36576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67712" y="34747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32304" y="32918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96896" y="31089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61488" y="292607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26079" y="27432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90672" y="25603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55264" y="23774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19856" y="21945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84448" y="20116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49039" y="18288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13631" y="164591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78224" y="14630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42816" y="128015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07408" y="10972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72000" y="914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28800" y="27432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38528" y="42793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48256" y="58155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57984" y="73517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7712" y="88879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377440" y="104241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87168" y="119603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596896" y="134965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706624" y="150327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16352" y="165689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26080" y="181051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35808" y="196413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145536" y="211775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255264" y="227136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64992" y="242498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74720" y="257860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584448" y="273222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94176" y="288584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03904" y="303946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13632" y="319308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23360" y="334670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133087" y="350032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42816" y="365394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52544" y="380756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62272" y="396118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72000" y="411480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432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852928" y="62179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962656" y="78638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072384" y="95097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182112" y="111556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91840" y="1280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01568" y="144475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511296" y="160934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21024" y="177393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730752" y="193852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50208" y="226771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059935" y="243230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169664" y="259689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279392" y="276148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89120" y="29260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498848" y="309067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608576" y="325526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18304" y="341985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828032" y="358444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937760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47488" y="3913631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157216" y="407822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266944" y="424281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76672" y="440740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486400" y="4572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286000" y="2286000"/>
            <a:ext cx="73152" cy="731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200400" y="32004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71600" y="2743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57600" y="18288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743200" y="13716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模块一：用户与学习画像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AI-POWERED STUDENT PROFILING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2296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9728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对话式画像构建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97280" y="1920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通过多轮 AI 对话，自然收集学生学习特征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097280" y="2377440"/>
            <a:ext cx="4206240" cy="4572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88720" y="24688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AI: 你好！请告诉我你的专业和年级？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645920" y="2999232"/>
            <a:ext cx="4206240" cy="4572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737360" y="30906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用户: 我是计算机科学专业，大三学生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097280" y="3621024"/>
            <a:ext cx="4206240" cy="4572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88720" y="37124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AI: 你的学习目标是什么？希望提升哪些方面？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645920" y="4242816"/>
            <a:ext cx="4206240" cy="4572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737360" y="433425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用户: 想系统学习Spring Boot，准备春招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583680" y="1371600"/>
            <a:ext cx="48463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67512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94944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六维学习画像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858000" y="2103120"/>
            <a:ext cx="1965960" cy="10058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949440" y="2157984"/>
            <a:ext cx="36576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967728" y="226771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知识基础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967728" y="25603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已有知识水平评估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052560" y="2103120"/>
            <a:ext cx="1965960" cy="10058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144000" y="2157984"/>
            <a:ext cx="36576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62288" y="226771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认知风格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62288" y="25603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学习偏好分析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858000" y="3337560"/>
            <a:ext cx="1965960" cy="10058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949440" y="3392424"/>
            <a:ext cx="36576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967728" y="350215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967728" y="379476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阶段性目标设定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9052560" y="3337560"/>
            <a:ext cx="1965960" cy="10058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144000" y="3392424"/>
            <a:ext cx="3657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162288" y="350215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易错点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162288" y="379476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薄弱知识点识别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858000" y="4572000"/>
            <a:ext cx="1965960" cy="10058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949440" y="4626864"/>
            <a:ext cx="3657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967728" y="47365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学习节奏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967728" y="502920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学习强度适配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052560" y="4572000"/>
            <a:ext cx="1965960" cy="10058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9144000" y="4626864"/>
            <a:ext cx="36576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62288" y="47365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资源偏好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162288" y="502920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内容形式偏好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029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9651" y="48463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4982" y="46634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0313" y="44805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5644" y="42976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41148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6307" y="39319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1638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56969" y="3566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2300" y="33832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27632" y="32004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62963" y="30175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98294" y="28346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33625" y="26517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8956" y="24688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4288" y="2286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39619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4950" y="19202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0281" y="17373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45612" y="15544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80944" y="13716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16275" y="118871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51606" y="10058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6937" y="82295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2268" y="6400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5486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53035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6384" y="51206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0976" y="49377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5568" y="47548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5720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44752" y="43891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09344" y="42062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773936" y="40233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38528" y="38404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03120" y="36576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67712" y="34747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32304" y="32918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96896" y="31089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61488" y="292607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26079" y="27432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90672" y="25603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55264" y="23774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19856" y="21945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84448" y="20116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49039" y="18288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13631" y="164591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78224" y="14630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42816" y="128015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07408" y="10972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72000" y="914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28800" y="27432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38528" y="42793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48256" y="58155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57984" y="73517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7712" y="88879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377440" y="104241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87168" y="119603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596896" y="134965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706624" y="150327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16352" y="165689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26080" y="181051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35808" y="196413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145536" y="211775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255264" y="227136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64992" y="242498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74720" y="257860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584448" y="273222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94176" y="288584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03904" y="303946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13632" y="319308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23360" y="334670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133087" y="350032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42816" y="365394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52544" y="380756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62272" y="396118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72000" y="411480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432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852928" y="62179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962656" y="78638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072384" y="95097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182112" y="111556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91840" y="1280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01568" y="144475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511296" y="160934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21024" y="177393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730752" y="193852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50208" y="226771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059935" y="243230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169664" y="259689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279392" y="276148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89120" y="29260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498848" y="309067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608576" y="325526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18304" y="341985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828032" y="358444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937760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47488" y="3913631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157216" y="407822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266944" y="424281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76672" y="440740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486400" y="4572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286000" y="2286000"/>
            <a:ext cx="73152" cy="731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200400" y="32004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71600" y="2743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57600" y="18288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743200" y="13716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模块二：AI 多智能体资源生成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MULTI-AGENT RESOURCE GENERATION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31520" y="137160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2296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96112" y="155448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96112" y="155448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444752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需求解析智能体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444752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Microsoft YaHei"/>
              </a:defRPr>
            </a:pPr>
            <a:r>
              <a:t>Role: demand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05840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学习目标拆解 / 知识清单 / 推荐路径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480559" y="137160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571999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645151" y="1554480"/>
            <a:ext cx="420624" cy="42062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645151" y="155448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193791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文档生成智能体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193791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6B6D4"/>
                </a:solidFill>
                <a:latin typeface="Microsoft YaHei"/>
              </a:defRPr>
            </a:pPr>
            <a:r>
              <a:t>Role: document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754879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结构化文档 / 学习笔记 / 知识详解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229598" y="137160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321038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394190" y="155448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394190" y="155448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942830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思维导图智能体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942830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5CF6"/>
                </a:solidFill>
                <a:latin typeface="Microsoft YaHei"/>
              </a:defRPr>
            </a:pPr>
            <a:r>
              <a:t>Role: mind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03918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知识体系 / 关联可视化 / 复习提纲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731520" y="393192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22960" y="396849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896112" y="411480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96112" y="411480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444752" y="4160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题库生成智能体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444752" y="43891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Microsoft YaHei"/>
              </a:defRPr>
            </a:pPr>
            <a:r>
              <a:t>Role: question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05840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多难度练习 / 选择填空 / 解析评分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4480559" y="393192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571999" y="396849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4645151" y="411480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645151" y="411480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193791" y="4160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实操案例智能体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193791" y="43891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  <a:latin typeface="Microsoft YaHei"/>
              </a:defRPr>
            </a:pPr>
            <a:r>
              <a:t>Role: case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754879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代码实战 / 项目拆解 / 调试排错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229598" y="3931920"/>
            <a:ext cx="34747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321038" y="396849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394190" y="4114800"/>
            <a:ext cx="420624" cy="420624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394190" y="4114800"/>
            <a:ext cx="42062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942830" y="4160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多模态智能体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942830" y="43891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C4899"/>
                </a:solidFill>
                <a:latin typeface="Microsoft YaHei"/>
              </a:defRPr>
            </a:pPr>
            <a:r>
              <a:t>Role: multimodal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503918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视频脚本 / 音频讲解 / 动画文案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029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9651" y="48463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4982" y="46634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0313" y="44805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5644" y="42976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41148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6307" y="39319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1638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56969" y="3566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2300" y="33832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27632" y="32004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62963" y="30175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98294" y="28346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33625" y="26517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8956" y="24688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4288" y="2286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39619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4950" y="19202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0281" y="17373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45612" y="15544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80944" y="13716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16275" y="118871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51606" y="10058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6937" y="82295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2268" y="6400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5486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53035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6384" y="51206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0976" y="49377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5568" y="47548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5720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44752" y="43891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09344" y="42062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773936" y="40233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38528" y="38404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03120" y="36576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67712" y="34747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32304" y="32918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96896" y="31089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61488" y="292607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26079" y="27432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90672" y="25603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55264" y="23774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19856" y="21945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84448" y="20116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49039" y="18288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13631" y="164591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78224" y="14630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42816" y="128015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07408" y="10972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72000" y="914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28800" y="27432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38528" y="42793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48256" y="58155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57984" y="73517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7712" y="88879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377440" y="104241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87168" y="119603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596896" y="134965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706624" y="150327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16352" y="165689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26080" y="181051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35808" y="196413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145536" y="211775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255264" y="227136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64992" y="242498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74720" y="257860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584448" y="273222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94176" y="288584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03904" y="303946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13632" y="319308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23360" y="334670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133087" y="350032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42816" y="365394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52544" y="380756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62272" y="396118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72000" y="411480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432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852928" y="62179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962656" y="78638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072384" y="95097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182112" y="111556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91840" y="1280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01568" y="144475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511296" y="160934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21024" y="177393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730752" y="193852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50208" y="226771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059935" y="243230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169664" y="259689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279392" y="276148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89120" y="29260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498848" y="309067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608576" y="325526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18304" y="341985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828032" y="358444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937760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47488" y="3913631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157216" y="407822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266944" y="424281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76672" y="440740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486400" y="4572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286000" y="2286000"/>
            <a:ext cx="73152" cy="731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200400" y="32004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71600" y="2743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57600" y="18288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743200" y="13716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资源生成流程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ASYNCHRONOUS GENERATION PIPELINE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457200" y="1463040"/>
            <a:ext cx="2011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8640" y="149961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97280" y="1627632"/>
            <a:ext cx="475488" cy="47548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97280" y="1627632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30352" y="224028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选择智能体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30352" y="256032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从6大智能体中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30352" y="2798064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选择目标角色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395728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743200" y="1463040"/>
            <a:ext cx="2011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834640" y="149961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383280" y="1627632"/>
            <a:ext cx="475488" cy="47548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383280" y="1627632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816352" y="224028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输入主题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816352" y="256032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填写学习主题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816352" y="2798064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难度与参数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681728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029200" y="1463040"/>
            <a:ext cx="2011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120640" y="149961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669280" y="1627632"/>
            <a:ext cx="475488" cy="47548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669280" y="1627632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102352" y="224028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异步生成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102352" y="256032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后端异步调用AI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102352" y="2798064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实时进度轮询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967728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315200" y="1463040"/>
            <a:ext cx="2011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406640" y="149961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7955280" y="162763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955280" y="1627632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388352" y="224028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质量校验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388352" y="256032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AI内容格式校验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388352" y="2798064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自动修复兼容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253728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9601200" y="1463040"/>
            <a:ext cx="2011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692640" y="149961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241280" y="1627632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241280" y="1627632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2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674352" y="224028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资源入库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674352" y="256032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结果持久化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674352" y="2798064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关联学习路径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731520" y="4114800"/>
            <a:ext cx="1051560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22960" y="41513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97280" y="4251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核心技术要点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97280" y="461772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策略模式: AgentStrategyFactory 自动发现 + 按 role 分发，新增智能体零改动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97280" y="487375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异步解耦: ResourceAsyncExecutor 独立 Bean，解决 Spring @Async 自调用失效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97280" y="5129784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Prompt 工程化: 每个智能体独立 Prompt 模板，存储在数据库支持动态配置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97280" y="5385816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进度轮询: 前端 2s 间隔轮询，实时展示 0-100% 生成进度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029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9651" y="48463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4982" y="46634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0313" y="44805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5644" y="42976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41148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6307" y="39319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1638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56969" y="3566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2300" y="33832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27632" y="32004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62963" y="30175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98294" y="28346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33625" y="26517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8956" y="24688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4288" y="2286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39619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4950" y="19202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0281" y="17373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45612" y="15544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80944" y="13716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16275" y="118871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51606" y="10058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6937" y="82295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2268" y="6400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5486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53035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6384" y="51206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0976" y="49377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5568" y="47548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5720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44752" y="43891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09344" y="42062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773936" y="40233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38528" y="38404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03120" y="36576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67712" y="34747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32304" y="32918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96896" y="31089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61488" y="292607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26079" y="27432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90672" y="25603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55264" y="23774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19856" y="21945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84448" y="20116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49039" y="18288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13631" y="164591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78224" y="14630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42816" y="128015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07408" y="10972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72000" y="914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28800" y="27432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38528" y="42793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48256" y="58155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57984" y="73517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7712" y="88879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377440" y="104241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87168" y="119603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596896" y="134965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706624" y="150327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16352" y="165689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26080" y="181051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35808" y="196413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145536" y="211775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255264" y="227136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64992" y="242498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74720" y="257860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584448" y="273222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94176" y="288584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03904" y="303946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13632" y="319308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23360" y="334670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133087" y="350032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42816" y="365394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52544" y="380756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62272" y="396118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72000" y="411480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432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852928" y="62179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962656" y="78638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072384" y="95097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182112" y="111556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91840" y="1280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01568" y="144475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511296" y="160934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21024" y="177393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730752" y="193852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50208" y="226771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059935" y="243230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169664" y="259689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279392" y="276148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89120" y="29260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498848" y="309067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608576" y="325526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18304" y="341985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828032" y="358444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937760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47488" y="3913631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157216" y="407822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266944" y="424281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76672" y="440740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486400" y="4572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286000" y="2286000"/>
            <a:ext cx="73152" cy="731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200400" y="32004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71600" y="2743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57600" y="18288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743200" y="13716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模块三：个性化学习路径规划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DYNAMIC LEARNING PATH PLANNING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2296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9728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AI 智能路径生成</a:t>
            </a:r>
          </a:p>
        </p:txBody>
      </p:sp>
      <p:sp>
        <p:nvSpPr>
          <p:cNvPr id="118" name="Oval 117"/>
          <p:cNvSpPr/>
          <p:nvPr/>
        </p:nvSpPr>
        <p:spPr>
          <a:xfrm>
            <a:off x="1234440" y="2231136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298448" y="2414016"/>
            <a:ext cx="15240" cy="5303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600200" y="21945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基础语法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600200" y="24231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变量、数据类型、控制流</a:t>
            </a:r>
          </a:p>
        </p:txBody>
      </p:sp>
      <p:sp>
        <p:nvSpPr>
          <p:cNvPr id="122" name="Oval 121"/>
          <p:cNvSpPr/>
          <p:nvPr/>
        </p:nvSpPr>
        <p:spPr>
          <a:xfrm>
            <a:off x="1234440" y="2962656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298448" y="3145536"/>
            <a:ext cx="15240" cy="5303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600200" y="29260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框架入门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600200" y="31546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Spring Boot 核心概念</a:t>
            </a:r>
          </a:p>
        </p:txBody>
      </p:sp>
      <p:sp>
        <p:nvSpPr>
          <p:cNvPr id="126" name="Oval 125"/>
          <p:cNvSpPr/>
          <p:nvPr/>
        </p:nvSpPr>
        <p:spPr>
          <a:xfrm>
            <a:off x="1234440" y="3694176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298448" y="3877056"/>
            <a:ext cx="15240" cy="5303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600200" y="3657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600200" y="38862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MySQL + MyBatis-Plus</a:t>
            </a:r>
          </a:p>
        </p:txBody>
      </p:sp>
      <p:sp>
        <p:nvSpPr>
          <p:cNvPr id="130" name="Oval 129"/>
          <p:cNvSpPr/>
          <p:nvPr/>
        </p:nvSpPr>
        <p:spPr>
          <a:xfrm>
            <a:off x="1234440" y="4425696"/>
            <a:ext cx="182880" cy="1828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298448" y="4608576"/>
            <a:ext cx="15240" cy="5303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600200" y="43891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项目实战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600200" y="46177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完整项目开发与部署</a:t>
            </a:r>
          </a:p>
        </p:txBody>
      </p:sp>
      <p:sp>
        <p:nvSpPr>
          <p:cNvPr id="134" name="Oval 133"/>
          <p:cNvSpPr/>
          <p:nvPr/>
        </p:nvSpPr>
        <p:spPr>
          <a:xfrm>
            <a:off x="1234440" y="5157216"/>
            <a:ext cx="182880" cy="1828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600200" y="51206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知识测验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600200" y="53492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综合测验与评估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583680" y="1371600"/>
            <a:ext cx="48463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67512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94944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5 种动态调整方式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858000" y="2194560"/>
            <a:ext cx="4206240" cy="5943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931152" y="2249424"/>
            <a:ext cx="3200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022592" y="22677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Microsoft YaHei"/>
              </a:defRPr>
            </a:pPr>
            <a:r>
              <a:t>延长周期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321040" y="2267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学习节奏太快，需要更多时间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858000" y="2944368"/>
            <a:ext cx="4206240" cy="5943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931152" y="2999232"/>
            <a:ext cx="32004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022592" y="30175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Microsoft YaHei"/>
              </a:defRPr>
            </a:pPr>
            <a:r>
              <a:t>压缩周期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32104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学习进度超前，加快节奏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858000" y="3694176"/>
            <a:ext cx="4206240" cy="5943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931152" y="3749040"/>
            <a:ext cx="3200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022592" y="37673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Microsoft YaHei"/>
              </a:defRPr>
            </a:pPr>
            <a:r>
              <a:t>调整顺序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321040" y="37673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拖拽调整学习内容先后顺序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858000" y="4443984"/>
            <a:ext cx="4206240" cy="5943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931152" y="4498848"/>
            <a:ext cx="32004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022592" y="451713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Microsoft YaHei"/>
              </a:defRPr>
            </a:pPr>
            <a:r>
              <a:t>新增内容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321040" y="45171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补充额外知识点到路径中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858000" y="5193792"/>
            <a:ext cx="4206240" cy="5943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931152" y="5248656"/>
            <a:ext cx="32004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022592" y="526694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Microsoft YaHei"/>
              </a:defRPr>
            </a:pPr>
            <a:r>
              <a:t>简化内容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321040" y="52669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移除已掌握的学习步骤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029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9651" y="48463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4982" y="46634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0313" y="44805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5644" y="42976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41148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6307" y="39319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1638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56969" y="3566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2300" y="33832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27632" y="32004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62963" y="30175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98294" y="28346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33625" y="26517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8956" y="24688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4288" y="2286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39619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4950" y="19202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0281" y="17373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45612" y="15544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80944" y="13716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16275" y="118871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51606" y="10058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6937" y="82295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2268" y="6400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5486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53035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6384" y="51206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0976" y="49377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5568" y="47548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5720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44752" y="43891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09344" y="42062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773936" y="40233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38528" y="38404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03120" y="36576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67712" y="34747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32304" y="32918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96896" y="31089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61488" y="292607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26079" y="27432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90672" y="25603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55264" y="23774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19856" y="21945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84448" y="20116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49039" y="18288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13631" y="164591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78224" y="14630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42816" y="128015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07408" y="10972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72000" y="914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28800" y="27432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38528" y="42793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48256" y="58155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57984" y="73517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7712" y="88879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377440" y="104241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87168" y="119603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596896" y="134965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706624" y="150327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16352" y="165689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26080" y="181051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35808" y="196413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145536" y="211775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255264" y="227136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64992" y="242498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74720" y="257860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584448" y="273222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94176" y="288584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03904" y="303946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13632" y="319308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23360" y="334670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133087" y="350032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42816" y="365394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52544" y="380756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62272" y="396118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72000" y="411480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432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852928" y="62179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962656" y="78638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072384" y="95097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182112" y="111556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91840" y="1280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01568" y="144475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511296" y="160934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21024" y="177393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730752" y="193852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50208" y="226771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059935" y="243230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169664" y="259689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279392" y="276148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89120" y="29260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498848" y="309067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608576" y="325526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18304" y="341985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828032" y="358444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937760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47488" y="3913631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157216" y="407822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266944" y="424281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76672" y="440740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486400" y="4572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286000" y="2286000"/>
            <a:ext cx="73152" cy="731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200400" y="32004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71600" y="2743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57600" y="18288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743200" y="13716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模块四：智能辅导答疑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AI-POWERED INTELLIGENT TUTORING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31520" y="1371600"/>
            <a:ext cx="1051560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2296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8872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多模态 AI 答疑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828800" y="2194560"/>
            <a:ext cx="4572000" cy="475488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920240" y="22860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我: 什么是 Spring Boot 的自动配置原理？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280160" y="2816352"/>
            <a:ext cx="4572000" cy="475488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371600" y="290779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AI: Spring Boot 自动配置基于 @EnableAutoConfiguration...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828800" y="3438144"/>
            <a:ext cx="4572000" cy="475488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920240" y="352958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我: 能举个具体的例子吗？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280160" y="4059936"/>
            <a:ext cx="4572000" cy="475488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371600" y="415137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AI: 当然！以 DataSourceAutoConfiguration 为例...</a:t>
            </a:r>
          </a:p>
        </p:txBody>
      </p:sp>
      <p:sp>
        <p:nvSpPr>
          <p:cNvPr id="126" name="Oval 125"/>
          <p:cNvSpPr/>
          <p:nvPr/>
        </p:nvSpPr>
        <p:spPr>
          <a:xfrm>
            <a:off x="7132320" y="2231136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388352" y="21945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文字提问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388352" y="243230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输入问题获取详细解答</a:t>
            </a:r>
          </a:p>
        </p:txBody>
      </p:sp>
      <p:sp>
        <p:nvSpPr>
          <p:cNvPr id="129" name="Oval 128"/>
          <p:cNvSpPr/>
          <p:nvPr/>
        </p:nvSpPr>
        <p:spPr>
          <a:xfrm>
            <a:off x="7132320" y="285292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388352" y="2816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图片识别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388352" y="305409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支持截图/拍照识别题目</a:t>
            </a:r>
          </a:p>
        </p:txBody>
      </p:sp>
      <p:sp>
        <p:nvSpPr>
          <p:cNvPr id="132" name="Oval 131"/>
          <p:cNvSpPr/>
          <p:nvPr/>
        </p:nvSpPr>
        <p:spPr>
          <a:xfrm>
            <a:off x="7132320" y="347472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388352" y="34381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逐字显示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388352" y="367588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打字机效果流式输出</a:t>
            </a:r>
          </a:p>
        </p:txBody>
      </p:sp>
      <p:sp>
        <p:nvSpPr>
          <p:cNvPr id="135" name="Oval 134"/>
          <p:cNvSpPr/>
          <p:nvPr/>
        </p:nvSpPr>
        <p:spPr>
          <a:xfrm>
            <a:off x="7132320" y="409651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388352" y="40599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历史记录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388352" y="4297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保存所有答疑历史</a:t>
            </a:r>
          </a:p>
        </p:txBody>
      </p:sp>
      <p:sp>
        <p:nvSpPr>
          <p:cNvPr id="138" name="Oval 137"/>
          <p:cNvSpPr/>
          <p:nvPr/>
        </p:nvSpPr>
        <p:spPr>
          <a:xfrm>
            <a:off x="7132320" y="471830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388352" y="46817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多轮对话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388352" y="49194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支持追问和深入探讨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029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9651" y="48463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4982" y="46634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0313" y="44805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5644" y="42976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41148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6307" y="39319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1638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56969" y="3566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2300" y="33832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27632" y="32004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62963" y="30175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98294" y="28346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33625" y="26517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8956" y="24688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4288" y="2286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39619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4950" y="19202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0281" y="17373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45612" y="15544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80944" y="13716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16275" y="118871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51606" y="10058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6937" y="82295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2268" y="6400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5486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53035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6384" y="51206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0976" y="49377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5568" y="47548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5720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44752" y="43891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09344" y="42062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773936" y="40233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38528" y="38404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03120" y="36576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67712" y="34747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32304" y="32918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96896" y="31089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61488" y="292607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26079" y="27432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90672" y="25603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55264" y="23774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19856" y="21945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84448" y="20116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49039" y="18288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13631" y="164591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78224" y="14630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42816" y="128015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07408" y="10972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72000" y="914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28800" y="27432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38528" y="42793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48256" y="58155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57984" y="73517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7712" y="88879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377440" y="104241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87168" y="119603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596896" y="134965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706624" y="150327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16352" y="165689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26080" y="181051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35808" y="196413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145536" y="211775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255264" y="227136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64992" y="242498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74720" y="257860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584448" y="273222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94176" y="288584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03904" y="303946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13632" y="319308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23360" y="334670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133087" y="350032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42816" y="365394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52544" y="380756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62272" y="396118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72000" y="411480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432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852928" y="62179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962656" y="78638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072384" y="95097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182112" y="111556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91840" y="1280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01568" y="144475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511296" y="160934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21024" y="177393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730752" y="193852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50208" y="226771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059935" y="243230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169664" y="259689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279392" y="276148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89120" y="29260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498848" y="309067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608576" y="325526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18304" y="341985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828032" y="358444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937760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47488" y="3913631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157216" y="407822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266944" y="424281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76672" y="440740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486400" y="4572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286000" y="2286000"/>
            <a:ext cx="73152" cy="731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200400" y="32004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71600" y="2743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57600" y="18288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743200" y="13716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模块五：学习效果评估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MULTI-DIMENSIONAL LEARNING ASSESSMENT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31520" y="1371600"/>
            <a:ext cx="34747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2296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0584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AI 评估报告</a:t>
            </a:r>
          </a:p>
        </p:txBody>
      </p:sp>
      <p:sp>
        <p:nvSpPr>
          <p:cNvPr id="118" name="Oval 117"/>
          <p:cNvSpPr/>
          <p:nvPr/>
        </p:nvSpPr>
        <p:spPr>
          <a:xfrm>
            <a:off x="1051560" y="2240280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298448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根据学习行为数据生成</a:t>
            </a:r>
          </a:p>
        </p:txBody>
      </p:sp>
      <p:sp>
        <p:nvSpPr>
          <p:cNvPr id="120" name="Oval 119"/>
          <p:cNvSpPr/>
          <p:nvPr/>
        </p:nvSpPr>
        <p:spPr>
          <a:xfrm>
            <a:off x="1051560" y="295351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298448" y="29077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多维度评估分析</a:t>
            </a:r>
          </a:p>
        </p:txBody>
      </p:sp>
      <p:sp>
        <p:nvSpPr>
          <p:cNvPr id="122" name="Oval 121"/>
          <p:cNvSpPr/>
          <p:nvPr/>
        </p:nvSpPr>
        <p:spPr>
          <a:xfrm>
            <a:off x="1051560" y="3666744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298448" y="36210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知识点掌握度 JSON</a:t>
            </a:r>
          </a:p>
        </p:txBody>
      </p:sp>
      <p:sp>
        <p:nvSpPr>
          <p:cNvPr id="124" name="Oval 123"/>
          <p:cNvSpPr/>
          <p:nvPr/>
        </p:nvSpPr>
        <p:spPr>
          <a:xfrm>
            <a:off x="1051560" y="437997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298448" y="433425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薄弱点精准识别</a:t>
            </a:r>
          </a:p>
        </p:txBody>
      </p:sp>
      <p:sp>
        <p:nvSpPr>
          <p:cNvPr id="126" name="Oval 125"/>
          <p:cNvSpPr/>
          <p:nvPr/>
        </p:nvSpPr>
        <p:spPr>
          <a:xfrm>
            <a:off x="1051560" y="5093208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298448" y="5047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个性化提升建议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480559" y="1371600"/>
            <a:ext cx="34747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571999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754879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Microsoft YaHei"/>
              </a:defRPr>
            </a:pPr>
            <a:r>
              <a:t>数据统计</a:t>
            </a:r>
          </a:p>
        </p:txBody>
      </p:sp>
      <p:sp>
        <p:nvSpPr>
          <p:cNvPr id="131" name="Oval 130"/>
          <p:cNvSpPr/>
          <p:nvPr/>
        </p:nvSpPr>
        <p:spPr>
          <a:xfrm>
            <a:off x="4800599" y="2240280"/>
            <a:ext cx="118872" cy="11887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047487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总学习时长统计</a:t>
            </a:r>
          </a:p>
        </p:txBody>
      </p:sp>
      <p:sp>
        <p:nvSpPr>
          <p:cNvPr id="133" name="Oval 132"/>
          <p:cNvSpPr/>
          <p:nvPr/>
        </p:nvSpPr>
        <p:spPr>
          <a:xfrm>
            <a:off x="4800599" y="2953512"/>
            <a:ext cx="118872" cy="11887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047487" y="29077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答题正确率趋势</a:t>
            </a:r>
          </a:p>
        </p:txBody>
      </p:sp>
      <p:sp>
        <p:nvSpPr>
          <p:cNvPr id="135" name="Oval 134"/>
          <p:cNvSpPr/>
          <p:nvPr/>
        </p:nvSpPr>
        <p:spPr>
          <a:xfrm>
            <a:off x="4800599" y="3666744"/>
            <a:ext cx="118872" cy="11887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047487" y="36210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每日学习数据</a:t>
            </a:r>
          </a:p>
        </p:txBody>
      </p:sp>
      <p:sp>
        <p:nvSpPr>
          <p:cNvPr id="137" name="Oval 136"/>
          <p:cNvSpPr/>
          <p:nvPr/>
        </p:nvSpPr>
        <p:spPr>
          <a:xfrm>
            <a:off x="4800599" y="4379976"/>
            <a:ext cx="118872" cy="11887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047487" y="433425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资源类型分布</a:t>
            </a:r>
          </a:p>
        </p:txBody>
      </p:sp>
      <p:sp>
        <p:nvSpPr>
          <p:cNvPr id="139" name="Oval 138"/>
          <p:cNvSpPr/>
          <p:nvPr/>
        </p:nvSpPr>
        <p:spPr>
          <a:xfrm>
            <a:off x="4800599" y="5093208"/>
            <a:ext cx="118872" cy="11887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047487" y="5047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各学科进度对比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229598" y="1371600"/>
            <a:ext cx="34747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321038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503918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Microsoft YaHei"/>
              </a:defRPr>
            </a:pPr>
            <a:r>
              <a:t>能力雷达</a:t>
            </a:r>
          </a:p>
        </p:txBody>
      </p:sp>
      <p:sp>
        <p:nvSpPr>
          <p:cNvPr id="144" name="Oval 143"/>
          <p:cNvSpPr/>
          <p:nvPr/>
        </p:nvSpPr>
        <p:spPr>
          <a:xfrm>
            <a:off x="8549638" y="2240280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796526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知识掌握度评估</a:t>
            </a:r>
          </a:p>
        </p:txBody>
      </p:sp>
      <p:sp>
        <p:nvSpPr>
          <p:cNvPr id="146" name="Oval 145"/>
          <p:cNvSpPr/>
          <p:nvPr/>
        </p:nvSpPr>
        <p:spPr>
          <a:xfrm>
            <a:off x="8549638" y="2953512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796526" y="29077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技能应用能力</a:t>
            </a:r>
          </a:p>
        </p:txBody>
      </p:sp>
      <p:sp>
        <p:nvSpPr>
          <p:cNvPr id="148" name="Oval 147"/>
          <p:cNvSpPr/>
          <p:nvPr/>
        </p:nvSpPr>
        <p:spPr>
          <a:xfrm>
            <a:off x="8549638" y="3666744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796526" y="36210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学习进度追踪</a:t>
            </a:r>
          </a:p>
        </p:txBody>
      </p:sp>
      <p:sp>
        <p:nvSpPr>
          <p:cNvPr id="150" name="Oval 149"/>
          <p:cNvSpPr/>
          <p:nvPr/>
        </p:nvSpPr>
        <p:spPr>
          <a:xfrm>
            <a:off x="8549638" y="4379976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796526" y="433425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练习准确率分析</a:t>
            </a:r>
          </a:p>
        </p:txBody>
      </p:sp>
      <p:sp>
        <p:nvSpPr>
          <p:cNvPr id="152" name="Oval 151"/>
          <p:cNvSpPr/>
          <p:nvPr/>
        </p:nvSpPr>
        <p:spPr>
          <a:xfrm>
            <a:off x="8549638" y="5093208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796526" y="5047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学习一致性评分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029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9651" y="48463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4982" y="46634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0313" y="44805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5644" y="42976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41148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6307" y="39319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1638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56969" y="3566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2300" y="33832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27632" y="32004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62963" y="30175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98294" y="28346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33625" y="26517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8956" y="24688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4288" y="2286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39619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4950" y="19202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0281" y="17373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45612" y="15544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80944" y="13716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16275" y="118871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51606" y="10058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6937" y="82295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2268" y="6400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5486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53035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6384" y="51206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0976" y="49377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5568" y="47548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5720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44752" y="43891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09344" y="42062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773936" y="40233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38528" y="38404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03120" y="36576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67712" y="34747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32304" y="32918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96896" y="31089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61488" y="292607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26079" y="27432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90672" y="25603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55264" y="23774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19856" y="21945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84448" y="20116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49039" y="18288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13631" y="164591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78224" y="14630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42816" y="128015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07408" y="10972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72000" y="914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28800" y="27432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38528" y="42793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48256" y="58155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57984" y="73517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7712" y="88879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377440" y="104241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87168" y="119603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596896" y="134965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706624" y="150327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16352" y="165689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26080" y="181051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35808" y="196413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145536" y="211775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255264" y="227136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64992" y="242498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74720" y="257860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584448" y="273222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94176" y="288584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03904" y="303946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13632" y="319308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23360" y="334670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133087" y="350032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42816" y="365394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52544" y="380756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62272" y="396118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72000" y="411480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432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852928" y="62179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962656" y="78638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072384" y="95097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182112" y="111556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91840" y="1280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01568" y="144475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511296" y="160934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21024" y="177393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730752" y="193852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50208" y="226771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059935" y="243230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169664" y="259689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279392" y="276148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89120" y="29260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498848" y="309067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608576" y="325526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18304" y="341985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828032" y="358444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937760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47488" y="3913631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157216" y="407822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266944" y="424281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76672" y="440740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486400" y="4572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286000" y="2286000"/>
            <a:ext cx="73152" cy="731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200400" y="32004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71600" y="2743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57600" y="18288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743200" y="13716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TECHNICAL ARCHITECTURE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31520" y="1371600"/>
            <a:ext cx="105156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2296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04672" y="1426464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14400" y="15361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前端层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03120" y="15544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Vue 3 + Vite + Element Plus + Pinia + Vue Router + Axios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14400" y="192024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440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登录注册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560320" y="192024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56032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画像构建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206240" y="192024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20624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资源生成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852160" y="192024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85216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路径规划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498080" y="192024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49808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智能辅导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9144000" y="192024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144000" y="20299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效果评估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31520" y="3108960"/>
            <a:ext cx="105156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22960" y="314553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04672" y="3163824"/>
            <a:ext cx="54864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14400" y="32735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Microsoft YaHei"/>
              </a:defRPr>
            </a:pPr>
            <a:r>
              <a:t>后端层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103120" y="3291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Spring Boot 3 + Spring AI + MyBatis-Plus + JWT + Redis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14400" y="365760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1440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用户模块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560320" y="365760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56032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画像模块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4206240" y="365760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20624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资源模块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852160" y="365760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85216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路径模块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498080" y="365760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49808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辅导模块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9144000" y="365760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14400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评估模块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31520" y="4846320"/>
            <a:ext cx="105156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22960" y="488289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04672" y="4901184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4400" y="50109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103120" y="50292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MySQL 8.0 + Redis 6.0 + 14张业务表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14400" y="539496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1440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用户表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560320" y="539496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56032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画像表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206240" y="539496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20624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资源表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852160" y="539496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85216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路径表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7498080" y="539496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49808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行为表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9144000" y="5394960"/>
            <a:ext cx="1463040" cy="6400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144000" y="5504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评估表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029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9651" y="48463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4982" y="46634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0313" y="44805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5644" y="42976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41148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6307" y="39319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1638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56969" y="3566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2300" y="33832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27632" y="32004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62963" y="30175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98294" y="28346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33625" y="26517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8956" y="24688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4288" y="2286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39619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4950" y="19202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0281" y="17373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45612" y="15544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80944" y="13716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16275" y="118871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51606" y="10058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6937" y="82295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2268" y="6400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5486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53035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6384" y="51206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0976" y="49377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5568" y="47548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5720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44752" y="43891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09344" y="42062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773936" y="40233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38528" y="38404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03120" y="36576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67712" y="34747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32304" y="32918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96896" y="31089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61488" y="292607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26079" y="27432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90672" y="25603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55264" y="23774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19856" y="21945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84448" y="20116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49039" y="18288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13631" y="164591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78224" y="14630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42816" y="128015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07408" y="10972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72000" y="914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28800" y="27432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38528" y="42793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48256" y="58155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57984" y="73517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7712" y="88879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377440" y="104241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87168" y="119603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596896" y="134965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706624" y="150327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16352" y="165689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26080" y="181051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35808" y="196413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145536" y="211775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255264" y="227136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64992" y="242498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74720" y="257860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584448" y="273222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94176" y="288584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03904" y="303946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13632" y="319308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23360" y="334670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133087" y="350032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42816" y="365394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52544" y="380756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62272" y="396118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72000" y="411480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432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852928" y="62179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962656" y="78638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072384" y="95097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182112" y="111556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91840" y="1280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01568" y="144475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511296" y="160934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21024" y="177393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730752" y="193852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50208" y="226771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059935" y="243230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169664" y="259689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279392" y="276148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89120" y="29260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498848" y="309067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608576" y="325526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18304" y="341985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828032" y="358444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937760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47488" y="3913631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157216" y="407822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266944" y="424281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76672" y="440740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486400" y="4572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286000" y="2286000"/>
            <a:ext cx="73152" cy="731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200400" y="32004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71600" y="2743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57600" y="18288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743200" y="13716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技术栈详情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TECHNOLOGY STACK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22960" y="131673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9728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后端技术栈</a:t>
            </a:r>
          </a:p>
        </p:txBody>
      </p:sp>
      <p:sp>
        <p:nvSpPr>
          <p:cNvPr id="118" name="Oval 117"/>
          <p:cNvSpPr/>
          <p:nvPr/>
        </p:nvSpPr>
        <p:spPr>
          <a:xfrm>
            <a:off x="1188720" y="197510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444752" y="1920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Spring Boot 3.3.5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749039" y="19202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应用框架</a:t>
            </a:r>
          </a:p>
        </p:txBody>
      </p:sp>
      <p:sp>
        <p:nvSpPr>
          <p:cNvPr id="121" name="Oval 120"/>
          <p:cNvSpPr/>
          <p:nvPr/>
        </p:nvSpPr>
        <p:spPr>
          <a:xfrm>
            <a:off x="1188720" y="2505456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444752" y="245059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Java 17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749039" y="24505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编程语言</a:t>
            </a:r>
          </a:p>
        </p:txBody>
      </p:sp>
      <p:sp>
        <p:nvSpPr>
          <p:cNvPr id="124" name="Oval 123"/>
          <p:cNvSpPr/>
          <p:nvPr/>
        </p:nvSpPr>
        <p:spPr>
          <a:xfrm>
            <a:off x="1188720" y="303580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444752" y="29809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Spring AI 1.0.0-M6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749039" y="29809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AI 框架</a:t>
            </a:r>
          </a:p>
        </p:txBody>
      </p:sp>
      <p:sp>
        <p:nvSpPr>
          <p:cNvPr id="127" name="Oval 126"/>
          <p:cNvSpPr/>
          <p:nvPr/>
        </p:nvSpPr>
        <p:spPr>
          <a:xfrm>
            <a:off x="1188720" y="35661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444752" y="351129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MyBatis-Plus 3.5.11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749039" y="35112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ORM 框架</a:t>
            </a:r>
          </a:p>
        </p:txBody>
      </p:sp>
      <p:sp>
        <p:nvSpPr>
          <p:cNvPr id="130" name="Oval 129"/>
          <p:cNvSpPr/>
          <p:nvPr/>
        </p:nvSpPr>
        <p:spPr>
          <a:xfrm>
            <a:off x="1188720" y="409651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444752" y="404164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MySQL 8.0+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749039" y="40416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133" name="Oval 132"/>
          <p:cNvSpPr/>
          <p:nvPr/>
        </p:nvSpPr>
        <p:spPr>
          <a:xfrm>
            <a:off x="1188720" y="4626864"/>
            <a:ext cx="109728" cy="10972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444752" y="45720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Redis 6.0+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749039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缓存</a:t>
            </a:r>
          </a:p>
        </p:txBody>
      </p:sp>
      <p:sp>
        <p:nvSpPr>
          <p:cNvPr id="136" name="Oval 135"/>
          <p:cNvSpPr/>
          <p:nvPr/>
        </p:nvSpPr>
        <p:spPr>
          <a:xfrm>
            <a:off x="1188720" y="515721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444752" y="510235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JWT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749039" y="5102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用户认证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400800" y="1280160"/>
            <a:ext cx="5029200" cy="4937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492240" y="131673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76656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前端技术栈</a:t>
            </a:r>
          </a:p>
        </p:txBody>
      </p:sp>
      <p:sp>
        <p:nvSpPr>
          <p:cNvPr id="142" name="Oval 141"/>
          <p:cNvSpPr/>
          <p:nvPr/>
        </p:nvSpPr>
        <p:spPr>
          <a:xfrm>
            <a:off x="6858000" y="197510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114032" y="1920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418320" y="19202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前端框架</a:t>
            </a:r>
          </a:p>
        </p:txBody>
      </p:sp>
      <p:sp>
        <p:nvSpPr>
          <p:cNvPr id="145" name="Oval 144"/>
          <p:cNvSpPr/>
          <p:nvPr/>
        </p:nvSpPr>
        <p:spPr>
          <a:xfrm>
            <a:off x="6858000" y="2505456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114032" y="245059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Vite 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418320" y="24505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构建工具</a:t>
            </a:r>
          </a:p>
        </p:txBody>
      </p:sp>
      <p:sp>
        <p:nvSpPr>
          <p:cNvPr id="148" name="Oval 147"/>
          <p:cNvSpPr/>
          <p:nvPr/>
        </p:nvSpPr>
        <p:spPr>
          <a:xfrm>
            <a:off x="6858000" y="303580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114032" y="29809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Element Plus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418320" y="29809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UI 组件库</a:t>
            </a:r>
          </a:p>
        </p:txBody>
      </p:sp>
      <p:sp>
        <p:nvSpPr>
          <p:cNvPr id="151" name="Oval 150"/>
          <p:cNvSpPr/>
          <p:nvPr/>
        </p:nvSpPr>
        <p:spPr>
          <a:xfrm>
            <a:off x="6858000" y="35661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114032" y="351129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Pinia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418320" y="35112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状态管理</a:t>
            </a:r>
          </a:p>
        </p:txBody>
      </p:sp>
      <p:sp>
        <p:nvSpPr>
          <p:cNvPr id="154" name="Oval 153"/>
          <p:cNvSpPr/>
          <p:nvPr/>
        </p:nvSpPr>
        <p:spPr>
          <a:xfrm>
            <a:off x="6858000" y="409651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114032" y="404164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Vue Router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418320" y="40416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前端路由</a:t>
            </a:r>
          </a:p>
        </p:txBody>
      </p:sp>
      <p:sp>
        <p:nvSpPr>
          <p:cNvPr id="157" name="Oval 156"/>
          <p:cNvSpPr/>
          <p:nvPr/>
        </p:nvSpPr>
        <p:spPr>
          <a:xfrm>
            <a:off x="6858000" y="4626864"/>
            <a:ext cx="109728" cy="10972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114032" y="45720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Axios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418320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HTTP 请求</a:t>
            </a:r>
          </a:p>
        </p:txBody>
      </p:sp>
      <p:sp>
        <p:nvSpPr>
          <p:cNvPr id="160" name="Oval 159"/>
          <p:cNvSpPr/>
          <p:nvPr/>
        </p:nvSpPr>
        <p:spPr>
          <a:xfrm>
            <a:off x="6858000" y="515721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114032" y="510235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Markdown 渲染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418320" y="5102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富文本展示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029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9651" y="48463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4982" y="46634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0313" y="44805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5644" y="42976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41148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6307" y="39319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1638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56969" y="3566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2300" y="33832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27632" y="32004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62963" y="30175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98294" y="28346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33625" y="26517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8956" y="24688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4288" y="2286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39619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4950" y="19202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0281" y="17373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45612" y="15544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80944" y="13716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16275" y="118871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51606" y="10058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6937" y="82295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2268" y="6400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5486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53035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6384" y="51206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0976" y="49377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5568" y="47548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5720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44752" y="43891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09344" y="42062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773936" y="40233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38528" y="38404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03120" y="36576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67712" y="34747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32304" y="32918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96896" y="31089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61488" y="292607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26079" y="27432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90672" y="25603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55264" y="23774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19856" y="21945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84448" y="20116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49039" y="18288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13631" y="164591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78224" y="14630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42816" y="128015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07408" y="10972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72000" y="914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28800" y="27432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38528" y="42793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48256" y="58155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57984" y="73517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7712" y="88879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377440" y="104241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87168" y="119603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596896" y="134965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706624" y="150327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16352" y="165689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26080" y="181051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35808" y="196413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145536" y="211775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255264" y="227136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64992" y="242498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74720" y="257860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584448" y="273222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94176" y="288584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03904" y="303946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13632" y="319308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23360" y="334670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133087" y="350032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42816" y="365394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52544" y="380756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62272" y="396118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72000" y="411480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432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852928" y="62179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962656" y="78638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072384" y="95097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182112" y="111556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91840" y="1280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01568" y="144475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511296" y="160934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21024" y="177393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730752" y="193852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50208" y="226771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059935" y="243230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169664" y="259689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279392" y="276148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89120" y="29260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498848" y="309067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608576" y="325526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18304" y="341985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828032" y="358444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937760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47488" y="3913631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157216" y="407822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266944" y="424281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76672" y="440740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486400" y="4572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286000" y="2286000"/>
            <a:ext cx="73152" cy="731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200400" y="32004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71600" y="2743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57600" y="18288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743200" y="13716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DATABASE DESIGN - 14 TABLES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548640" y="137160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4008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13232" y="1627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3B82F6"/>
                </a:solidFill>
                <a:latin typeface="Microsoft YaHei"/>
              </a:defRPr>
            </a:pPr>
            <a:r>
              <a:t>sys_user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13232" y="1920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用户表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383280" y="137160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47472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547872" y="1627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6B6D4"/>
                </a:solidFill>
                <a:latin typeface="Microsoft YaHei"/>
              </a:defRPr>
            </a:pPr>
            <a:r>
              <a:t>student_profile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547872" y="1920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学习画像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217920" y="137160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30936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382512" y="1627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8B5CF6"/>
                </a:solidFill>
                <a:latin typeface="Microsoft YaHei"/>
              </a:defRPr>
            </a:pPr>
            <a:r>
              <a:t>chat_context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382512" y="1920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对话上下文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9052560" y="137160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14400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217152" y="1627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0B981"/>
                </a:solidFill>
                <a:latin typeface="Microsoft YaHei"/>
              </a:defRPr>
            </a:pPr>
            <a:r>
              <a:t>ai_agent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217152" y="1920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AI智能体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48640" y="301752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40080" y="305409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13232" y="3273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3B82F6"/>
                </a:solidFill>
                <a:latin typeface="Microsoft YaHei"/>
              </a:defRPr>
            </a:pPr>
            <a:r>
              <a:t>learning_resource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13232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学习资源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383280" y="301752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474720" y="305409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547872" y="3273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6B6D4"/>
                </a:solidFill>
                <a:latin typeface="Microsoft YaHei"/>
              </a:defRPr>
            </a:pPr>
            <a:r>
              <a:t>learning_path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547872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学习路径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217920" y="301752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309360" y="305409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382512" y="3273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8B5CF6"/>
                </a:solidFill>
                <a:latin typeface="Microsoft YaHei"/>
              </a:defRPr>
            </a:pPr>
            <a:r>
              <a:t>learning_path_step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382512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路径步骤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052560" y="301752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144000" y="305409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217152" y="3273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0B981"/>
                </a:solidFill>
                <a:latin typeface="Microsoft YaHei"/>
              </a:defRPr>
            </a:pPr>
            <a:r>
              <a:t>step_resource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217152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步骤资源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48640" y="466344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40080" y="470001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13232" y="4919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59E0B"/>
                </a:solidFill>
                <a:latin typeface="Microsoft YaHei"/>
              </a:defRPr>
            </a:pPr>
            <a:r>
              <a:t>learning_behavior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13232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学习行为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3383280" y="466344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474720" y="470001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547872" y="4919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EC4899"/>
                </a:solidFill>
                <a:latin typeface="Microsoft YaHei"/>
              </a:defRPr>
            </a:pPr>
            <a:r>
              <a:t>question_answer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547872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答题记录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217920" y="466344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09360" y="470001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382512" y="4919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43F5E"/>
                </a:solidFill>
                <a:latin typeface="Microsoft YaHei"/>
              </a:defRPr>
            </a:pPr>
            <a:r>
              <a:t>video_progress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382512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视频进度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052560" y="466344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144000" y="470001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217152" y="4919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59E0B"/>
                </a:solidFill>
                <a:latin typeface="Microsoft YaHei"/>
              </a:defRPr>
            </a:pPr>
            <a:r>
              <a:t>learning_evaluate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217152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学习评估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48640" y="630936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40080" y="634593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13232" y="65653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EC4899"/>
                </a:solidFill>
                <a:latin typeface="Microsoft YaHei"/>
              </a:defRPr>
            </a:pPr>
            <a:r>
              <a:t>smart_tutor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13232" y="6858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智能辅导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3383280" y="630936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3474720" y="634593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547872" y="65653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43F5E"/>
                </a:solidFill>
                <a:latin typeface="Microsoft YaHei"/>
              </a:defRPr>
            </a:pPr>
            <a:r>
              <a:t>generate_task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547872" y="6858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生成任务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029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9651" y="48463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4982" y="46634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0313" y="44805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5644" y="42976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41148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6307" y="39319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1638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56969" y="3566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2300" y="33832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27632" y="32004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62963" y="30175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98294" y="28346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33625" y="26517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8956" y="24688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4288" y="2286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39619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4950" y="19202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0281" y="17373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45612" y="15544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80944" y="13716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16275" y="118871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51606" y="10058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6937" y="82295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2268" y="6400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5486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53035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6384" y="51206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0976" y="49377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5568" y="47548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5720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44752" y="43891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09344" y="42062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773936" y="40233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38528" y="38404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03120" y="36576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67712" y="34747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32304" y="32918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96896" y="31089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61488" y="292607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26079" y="27432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90672" y="25603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55264" y="23774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19856" y="21945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84448" y="20116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49039" y="18288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13631" y="164591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78224" y="14630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42816" y="128015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07408" y="10972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72000" y="914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28800" y="27432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38528" y="42793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48256" y="58155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57984" y="73517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7712" y="88879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377440" y="104241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87168" y="119603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596896" y="134965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706624" y="150327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16352" y="165689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26080" y="181051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35808" y="196413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145536" y="211775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255264" y="227136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64992" y="242498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74720" y="257860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584448" y="273222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94176" y="288584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03904" y="303946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13632" y="319308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23360" y="334670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133087" y="350032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42816" y="365394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52544" y="380756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62272" y="396118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72000" y="411480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432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852928" y="62179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962656" y="78638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072384" y="95097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182112" y="111556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91840" y="1280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01568" y="144475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511296" y="160934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21024" y="177393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730752" y="193852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50208" y="226771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059935" y="243230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169664" y="259689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279392" y="276148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89120" y="29260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498848" y="309067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608576" y="325526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18304" y="341985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828032" y="358444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937760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47488" y="3913631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157216" y="407822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266944" y="424281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76672" y="440740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486400" y="4572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286000" y="2286000"/>
            <a:ext cx="73152" cy="731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200400" y="32004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71600" y="2743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57600" y="18288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743200" y="13716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创新亮点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INNOVATION HIGHLIGHTS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548640" y="137160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4008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07008" y="1572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多智能体策略模式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04672" y="2057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6个智能体各自独立策略类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04672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新增智能体只需实现接口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4672" y="2660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符合开闭原则 OCP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343400" y="137160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43484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507992" y="1536192"/>
            <a:ext cx="384048" cy="38404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507992" y="153619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001768" y="1572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对话式画像构建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599432" y="2057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AI多轮对话收集信息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599432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自动抽取结构化字段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99432" y="2660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替代传统表单填写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138160" y="137160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22960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302752" y="1536192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302752" y="153619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796528" y="1572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异步任务解耦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394192" y="2057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独立Bean解决@Async失效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394192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前端轮询实时进度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394192" y="26609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零长连接依赖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48640" y="393192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40080" y="396849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713232" y="409651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13232" y="409651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07008" y="41330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Prompt 工程化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04672" y="46177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各智能体独立Prompt模板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04672" y="49194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数据库存储动态配置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04672" y="52212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结构化输出确保质量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343400" y="393192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434840" y="396849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507992" y="4096512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507992" y="409651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01768" y="41330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动态路径调整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599432" y="46177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5种调整方式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599432" y="49194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AI自动重新规划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599432" y="52212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实时更新倒计时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138160" y="393192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229600" y="396849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8302752" y="4096512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302752" y="409651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80"/>
              </a:spcBef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796528" y="41330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全链路评估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394192" y="46177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行为+答题+AI分析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394192" y="49194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多维度能力雷达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394192" y="52212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自动同步画像更新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029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9651" y="48463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4982" y="46634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0313" y="44805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5644" y="42976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41148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6307" y="39319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1638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56969" y="3566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2300" y="33832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27632" y="32004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62963" y="30175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98294" y="283464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33625" y="26517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8956" y="24688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4288" y="2286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39619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74950" y="19202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0281" y="17373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45612" y="15544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80944" y="13716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16275" y="118871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51606" y="10058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6937" y="82295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2268" y="64008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5486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53035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6384" y="51206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0976" y="49377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5568" y="47548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5720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44752" y="43891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09344" y="42062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773936" y="40233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38528" y="38404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03120" y="36576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67712" y="34747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32304" y="329184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96896" y="31089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61488" y="292607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26079" y="27432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90672" y="256032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55264" y="23774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19856" y="219456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84448" y="20116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49039" y="18288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13631" y="164591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78224" y="146303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42816" y="1280159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07408" y="109728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72000" y="914400"/>
            <a:ext cx="10972" cy="10972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28800" y="27432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38528" y="42793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48256" y="58155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57984" y="73517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67712" y="88879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377440" y="104241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87168" y="119603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596896" y="134965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706624" y="150327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16352" y="165689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26080" y="181051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35808" y="196413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145536" y="211775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255264" y="2271369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64992" y="242498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74720" y="2578608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584448" y="2732227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94176" y="2885846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03904" y="3039465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13632" y="319308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23360" y="3346704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133087" y="3500323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42816" y="3653942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52544" y="3807561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62272" y="396118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72000" y="4114800"/>
            <a:ext cx="10972" cy="109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43200" y="4572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852928" y="62179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962656" y="78638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072384" y="95097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182112" y="111556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91840" y="128016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01568" y="144475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511296" y="160934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21024" y="177393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730752" y="193852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210312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50208" y="226771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059935" y="243230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169664" y="259689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279392" y="276148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89120" y="292607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498848" y="3090672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608576" y="325526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18304" y="341985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828032" y="358444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937760" y="3749039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047488" y="3913631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157216" y="4078224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266944" y="4242816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76672" y="4407408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486400" y="4572000"/>
            <a:ext cx="10972" cy="1097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286000" y="2286000"/>
            <a:ext cx="73152" cy="731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200400" y="32004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71600" y="2743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57600" y="1828800"/>
            <a:ext cx="54864" cy="5486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743200" y="13716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项目成果与未来规划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ACHIEVEMENTS &amp; ROADMAP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1188720"/>
            <a:ext cx="1463040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2296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9728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项目成果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97280" y="2103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97280" y="2487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核心功能模块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743200" y="2103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743200" y="2487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AI 智能体角色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389120" y="2103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389120" y="2487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数据库表设计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97280" y="32004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97280" y="35844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前端页面组件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43200" y="32004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43200" y="35844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REST API 端点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400800" y="1371600"/>
            <a:ext cx="502920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492240" y="1408176"/>
            <a:ext cx="457200" cy="25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6656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未来规划</a:t>
            </a:r>
          </a:p>
        </p:txBody>
      </p:sp>
      <p:sp>
        <p:nvSpPr>
          <p:cNvPr id="131" name="Oval 130"/>
          <p:cNvSpPr/>
          <p:nvPr/>
        </p:nvSpPr>
        <p:spPr>
          <a:xfrm>
            <a:off x="6858000" y="2066544"/>
            <a:ext cx="128016" cy="12801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114032" y="20116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SSE 流式输出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114032" y="22677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接入 Server-Sent Events 实现真正流式响应</a:t>
            </a:r>
          </a:p>
        </p:txBody>
      </p:sp>
      <p:sp>
        <p:nvSpPr>
          <p:cNvPr id="134" name="Oval 133"/>
          <p:cNvSpPr/>
          <p:nvPr/>
        </p:nvSpPr>
        <p:spPr>
          <a:xfrm>
            <a:off x="6858000" y="2843784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114032" y="27889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Redis 深度缓存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114032" y="30449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画像、资源、统计数据全面缓存优化</a:t>
            </a:r>
          </a:p>
        </p:txBody>
      </p:sp>
      <p:sp>
        <p:nvSpPr>
          <p:cNvPr id="137" name="Oval 136"/>
          <p:cNvSpPr/>
          <p:nvPr/>
        </p:nvSpPr>
        <p:spPr>
          <a:xfrm>
            <a:off x="6858000" y="362102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114032" y="35661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WebSocket 通知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114032" y="38221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实时推送通知（新资源、路径建议）</a:t>
            </a:r>
          </a:p>
        </p:txBody>
      </p:sp>
      <p:sp>
        <p:nvSpPr>
          <p:cNvPr id="140" name="Oval 139"/>
          <p:cNvSpPr/>
          <p:nvPr/>
        </p:nvSpPr>
        <p:spPr>
          <a:xfrm>
            <a:off x="6858000" y="4398264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114032" y="434340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加权评估算法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114032" y="45994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多维度加权评分，更精准的效果评估</a:t>
            </a:r>
          </a:p>
        </p:txBody>
      </p:sp>
      <p:sp>
        <p:nvSpPr>
          <p:cNvPr id="143" name="Oval 142"/>
          <p:cNvSpPr/>
          <p:nvPr/>
        </p:nvSpPr>
        <p:spPr>
          <a:xfrm>
            <a:off x="6858000" y="517550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114032" y="5120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单元测试覆盖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114032" y="53766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补充 Service/Controller 层测试用例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0292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7096" y="48768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9871" y="47244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12648" y="45720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5424" y="44196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8200" y="42672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41148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3752" y="3962399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6528" y="38100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9304" y="36576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02080" y="35052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14856" y="33528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27632" y="32004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40408" y="3047999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53184" y="28956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65960" y="27432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78736" y="25908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191512" y="24384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04288" y="22860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7064" y="21336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29840" y="19812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42615" y="18288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55392" y="16764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868168" y="1523999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80944" y="13716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93720" y="1219199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206496" y="1066799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319272" y="9144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32048" y="761999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44824" y="6096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57600" y="457200"/>
            <a:ext cx="18288" cy="1828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200" y="54864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4360" y="53340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1520" y="51816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8680" y="50292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840" y="48768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43000" y="47244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" y="45720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417320" y="44196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554480" y="42672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91639" y="41148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39624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965960" y="38100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103120" y="36576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240280" y="3505199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77440" y="33528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514600" y="32004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651760" y="30480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788920" y="28956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926079" y="27432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63239" y="25908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200400" y="24384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337560" y="22860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74720" y="21336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611880" y="1981199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749039" y="18288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886200" y="1676399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023360" y="1523999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60520" y="13716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97680" y="1219199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434840" y="10668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572000" y="914400"/>
            <a:ext cx="13716" cy="1371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14400" y="59436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6800" y="57912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219200" y="56388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371600" y="54864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523999" y="53340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676400" y="51816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828800" y="50292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981200" y="48768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133599" y="47244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286000" y="45720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438400" y="44196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590799" y="42672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743200" y="41148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895600" y="3962399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048000" y="3809999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200400" y="36576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352800" y="35052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05199" y="33528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657600" y="32004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09999" y="30480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962399" y="28956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114800" y="27432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267199" y="25908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419600" y="24384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572000" y="22860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724400" y="2133599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876800" y="1981199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029200" y="18288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181600" y="1676399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334000" y="15240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486400" y="13716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31520" y="457200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13816" y="446532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96112" y="435864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78408" y="425196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60704" y="414528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43000" y="403860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225296" y="393192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307592" y="382524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389888" y="371856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472184" y="361188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554480" y="350520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636776" y="339852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719072" y="3291839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801368" y="318516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883664" y="307848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965960" y="297180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048256" y="286512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2130552" y="275844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212848" y="265176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295144" y="254508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377440" y="243840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459736" y="233172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542032" y="222504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2624328" y="211836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06624" y="2011679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788920" y="1904999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2871216" y="179832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2953512" y="169164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035808" y="158496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118104" y="147828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200400" y="1371600"/>
            <a:ext cx="16459" cy="16459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371600" y="54864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493520" y="53644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615440" y="52425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737360" y="51206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859280" y="49987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981199" y="48768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2103120" y="47548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2225040" y="46329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2346960" y="45110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2468880" y="43891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590799" y="42672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712720" y="41452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2834640" y="40233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2956560" y="39014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078480" y="3779519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200400" y="36576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322320" y="35356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444240" y="34137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3566160" y="32918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688080" y="31699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809999" y="30480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931920" y="29260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053840" y="28041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175760" y="26822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4297680" y="25603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419600" y="24384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41520" y="23164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663440" y="21945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785360" y="20726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4907280" y="19507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5029200" y="18288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828800" y="27432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920240" y="402336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2011680" y="530352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2103120" y="658368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2194560" y="786384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286000" y="9144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377440" y="1042416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2468880" y="1170432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2560320" y="1298448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2651760" y="1426464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743200" y="155448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2834639" y="1682496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2926080" y="1810512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3017520" y="1938528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3108960" y="2066544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3200400" y="219456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3291840" y="2322576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3383280" y="2450591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3474720" y="2578608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3566160" y="2706624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657600" y="2834639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749039" y="2962656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3840479" y="3090672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3931920" y="3218688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023360" y="3346704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114800" y="347472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206240" y="3602736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297680" y="3730752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4389120" y="3858768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4480560" y="3986784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4572000" y="4114800"/>
            <a:ext cx="10972" cy="1097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743200" y="4572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834640" y="5943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926080" y="7315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017520" y="8686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3108960" y="10058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3200400" y="11430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3291840" y="12801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3383280" y="14173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3474720" y="15544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3566160" y="1691639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3657600" y="18288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3749039" y="19659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3840480" y="21031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3931920" y="22402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023360" y="23774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4114800" y="25146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4206240" y="26517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4297680" y="27889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4389120" y="2926079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480560" y="3063239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572000" y="32004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663440" y="33375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754879" y="34747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4846320" y="36118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4937760" y="3749039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5029200" y="38862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5120640" y="402336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5212080" y="416052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303520" y="429768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394960" y="443484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5486400" y="4572000"/>
            <a:ext cx="9144" cy="914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14400" y="9144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021080" y="10668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27760" y="12192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234440" y="13716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341120" y="1523999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447800" y="16764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554480" y="18288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61160" y="19812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767840" y="2133599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874519" y="22860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981199" y="24384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2087880" y="2590799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194560" y="27432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301240" y="28956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407920" y="30480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2514600" y="32004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2621280" y="33528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2727960" y="3505199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2834640" y="36576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2941320" y="3809999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3047999" y="3962399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3154679" y="41148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3261360" y="4267199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3368040" y="44196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3474720" y="45720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3581400" y="47244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3688080" y="48768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3794760" y="50292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3901440" y="51816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4008119" y="53340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4114800" y="5486400"/>
            <a:ext cx="7315" cy="7315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2286000" y="2286000"/>
            <a:ext cx="109728" cy="10972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313432" y="2313432"/>
            <a:ext cx="43891" cy="43891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3200400" y="3200400"/>
            <a:ext cx="91440" cy="91440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3223260" y="3223260"/>
            <a:ext cx="36576" cy="3657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371600" y="2743200"/>
            <a:ext cx="73152" cy="7315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389888" y="2761488"/>
            <a:ext cx="29260" cy="292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657600" y="1828800"/>
            <a:ext cx="82296" cy="82296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678174" y="1849374"/>
            <a:ext cx="32918" cy="3291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2743200" y="1371600"/>
            <a:ext cx="64008" cy="6400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759202" y="1387602"/>
            <a:ext cx="25603" cy="256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8800" y="3657600"/>
            <a:ext cx="91440" cy="91440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51660" y="3680460"/>
            <a:ext cx="36576" cy="3657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4114800" y="2743200"/>
            <a:ext cx="73152" cy="73152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133087" y="2761488"/>
            <a:ext cx="29260" cy="292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914400" y="4114800"/>
            <a:ext cx="54864" cy="54864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928115" y="4128515"/>
            <a:ext cx="21945" cy="21945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2743200" y="4572000"/>
            <a:ext cx="64008" cy="64008"/>
          </a:xfrm>
          <a:prstGeom prst="ellipse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2759202" y="4588002"/>
            <a:ext cx="25603" cy="256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2743200" y="914400"/>
            <a:ext cx="6400800" cy="1828800"/>
          </a:xfrm>
          <a:prstGeom prst="ellipse">
            <a:avLst/>
          </a:prstGeom>
          <a:gradFill rotWithShape="1">
            <a:gsLst>
              <a:gs pos="0">
                <a:srgbClr val="0F254A">
                  <a:lumMod val="20000"/>
                  <a:lumOff val="80000"/>
                </a:srgbClr>
              </a:gs>
              <a:gs pos="100000">
                <a:srgbClr val="0A1A3A">
                  <a:lumMod val="60000"/>
                  <a:lumOff val="40000"/>
                </a:srgbClr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731520" y="457200"/>
            <a:ext cx="38100" cy="5943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5029200" y="2834640"/>
            <a:ext cx="2286000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0A5FA"/>
                </a:solidFill>
                <a:latin typeface="Microsoft YaHei"/>
              </a:defRPr>
            </a:pPr>
            <a:r>
              <a:t>MediCraft - AI 智能学习辅助系统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0" y="38404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B0C8"/>
                </a:solidFill>
                <a:latin typeface="Microsoft YaHei"/>
              </a:defRPr>
            </a:pPr>
            <a:r>
              <a:t>基于多智能体协同的个性化学习路径规划与效果评估平台</a:t>
            </a:r>
          </a:p>
        </p:txBody>
      </p:sp>
      <p:sp>
        <p:nvSpPr>
          <p:cNvPr id="274" name="Rounded Rectangle 273"/>
          <p:cNvSpPr/>
          <p:nvPr/>
        </p:nvSpPr>
        <p:spPr>
          <a:xfrm>
            <a:off x="2561691" y="4480560"/>
            <a:ext cx="1325880" cy="301752"/>
          </a:xfrm>
          <a:prstGeom prst="roundRect">
            <a:avLst/>
          </a:prstGeom>
          <a:solidFill>
            <a:srgbClr val="15305A"/>
          </a:solidFill>
          <a:ln w="9525"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561691" y="44988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B0C8"/>
                </a:solidFill>
                <a:latin typeface="Microsoft YaHei"/>
              </a:defRPr>
            </a:pPr>
            <a:r>
              <a:t>Spring Boot 3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3997299" y="4480560"/>
            <a:ext cx="1325880" cy="301752"/>
          </a:xfrm>
          <a:prstGeom prst="roundRect">
            <a:avLst/>
          </a:prstGeom>
          <a:solidFill>
            <a:srgbClr val="15305A"/>
          </a:solidFill>
          <a:ln w="9525"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3997299" y="44988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B0C8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5432907" y="4480560"/>
            <a:ext cx="1325880" cy="301752"/>
          </a:xfrm>
          <a:prstGeom prst="roundRect">
            <a:avLst/>
          </a:prstGeom>
          <a:solidFill>
            <a:srgbClr val="15305A"/>
          </a:solidFill>
          <a:ln w="9525"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5432907" y="44988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B0C8"/>
                </a:solidFill>
                <a:latin typeface="Microsoft YaHei"/>
              </a:defRPr>
            </a:pPr>
            <a:r>
              <a:t>Spring AI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6868515" y="4480560"/>
            <a:ext cx="1325880" cy="301752"/>
          </a:xfrm>
          <a:prstGeom prst="roundRect">
            <a:avLst/>
          </a:prstGeom>
          <a:solidFill>
            <a:srgbClr val="15305A"/>
          </a:solidFill>
          <a:ln w="9525"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6868515" y="44988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B0C8"/>
                </a:solidFill>
                <a:latin typeface="Microsoft YaHei"/>
              </a:defRPr>
            </a:pPr>
            <a:r>
              <a:t>多智能体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8304123" y="4480560"/>
            <a:ext cx="1325880" cy="301752"/>
          </a:xfrm>
          <a:prstGeom prst="roundRect">
            <a:avLst/>
          </a:prstGeom>
          <a:solidFill>
            <a:srgbClr val="15305A"/>
          </a:solidFill>
          <a:ln w="9525"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8304123" y="44988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B0C8"/>
                </a:solidFill>
                <a:latin typeface="Microsoft YaHei"/>
              </a:defRPr>
            </a:pPr>
            <a:r>
              <a:t>个性化学习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0" y="51206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2026 年度大学生创新创业项目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